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Missed deadlines</c:v>
                </c:pt>
              </c:strCache>
            </c:strRef>
          </c:tx>
          <c:spPr>
            <a:solidFill>
              <a:srgbClr val="D6454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EDF</c:v>
                  </c:pt>
                  <c:pt idx="1">
                    <c:v>RMS</c:v>
                  </c:pt>
                  <c:pt idx="2">
                    <c:v>FCFS</c:v>
                  </c:pt>
                  <c:pt idx="3">
                    <c:v>RR</c:v>
                  </c:pt>
                  <c:pt idx="4">
                    <c:v>Priority</c:v>
                  </c:pt>
                </c:lvl>
              </c:multiLvlStrCache>
            </c:multiLvlStrRef>
          </c:cat>
          <c:val>
            <c:numRef>
              <c:f>Sheet1!$B$2:$B$6</c:f>
              <c:numCache>
                <c:formatCode>General</c:formatCode>
                <c:ptCount val="5"/>
                <c:pt idx="0">
                  <c:v>38</c:v>
                </c:pt>
                <c:pt idx="1">
                  <c:v>32</c:v>
                </c:pt>
                <c:pt idx="2">
                  <c:v>40</c:v>
                </c:pt>
                <c:pt idx="3">
                  <c:v>43</c:v>
                </c:pt>
                <c:pt idx="4">
                  <c:v>37</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Avg waiting time</c:v>
                </c:pt>
              </c:strCache>
            </c:strRef>
          </c:tx>
          <c:spPr>
            <a:solidFill>
              <a:srgbClr val="2E6F9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EDF</c:v>
                  </c:pt>
                  <c:pt idx="1">
                    <c:v>RMS</c:v>
                  </c:pt>
                  <c:pt idx="2">
                    <c:v>FCFS</c:v>
                  </c:pt>
                  <c:pt idx="3">
                    <c:v>RR</c:v>
                  </c:pt>
                  <c:pt idx="4">
                    <c:v>Priority</c:v>
                  </c:pt>
                </c:lvl>
              </c:multiLvlStrCache>
            </c:multiLvlStrRef>
          </c:cat>
          <c:val>
            <c:numRef>
              <c:f>Sheet1!$B$2:$B$6</c:f>
              <c:numCache>
                <c:formatCode>General</c:formatCode>
                <c:ptCount val="5"/>
                <c:pt idx="0">
                  <c:v>101.11</c:v>
                </c:pt>
                <c:pt idx="1">
                  <c:v>104</c:v>
                </c:pt>
                <c:pt idx="2">
                  <c:v>113</c:v>
                </c:pt>
                <c:pt idx="3">
                  <c:v>126.11</c:v>
                </c:pt>
                <c:pt idx="4">
                  <c:v>102.71</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Race events</c:v>
                </c:pt>
              </c:strCache>
            </c:strRef>
          </c:tx>
          <c:spPr>
            <a:solidFill>
              <a:srgbClr val="D6454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Unsafe shared state</c:v>
                  </c:pt>
                  <c:pt idx="1">
                    <c:v>Safe ProductPacket</c:v>
                  </c:pt>
                </c:lvl>
              </c:multiLvlStrCache>
            </c:multiLvlStrRef>
          </c:cat>
          <c:val>
            <c:numRef>
              <c:f>Sheet1!$B$2:$B$3</c:f>
              <c:numCache>
                <c:formatCode>General</c:formatCode>
                <c:ptCount val="2"/>
                <c:pt idx="0">
                  <c:v>29</c:v>
                </c:pt>
                <c:pt idx="1">
                  <c:v>0</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2"/>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8FB"/>
        </a:solidFill>
      </p:bgPr>
    </p:bg>
    <p:spTree>
      <p:nvGrpSpPr>
        <p:cNvPr id="1" name=""/>
        <p:cNvGrpSpPr/>
        <p:nvPr/>
      </p:nvGrpSpPr>
      <p:grpSpPr>
        <a:xfrm>
          <a:off x="0" y="0"/>
          <a:ext cx="0" cy="0"/>
          <a:chOff x="0" y="0"/>
          <a:chExt cx="0" cy="0"/>
        </a:xfrm>
      </p:grpSpPr>
      <p:sp>
        <p:nvSpPr>
          <p:cNvPr id="2" name="Text 0"/>
          <p:cNvSpPr/>
          <p:nvPr/>
        </p:nvSpPr>
        <p:spPr>
          <a:xfrm>
            <a:off x="640080" y="502920"/>
            <a:ext cx="5029200" cy="228600"/>
          </a:xfrm>
          <a:prstGeom prst="rect">
            <a:avLst/>
          </a:prstGeom>
          <a:noFill/>
          <a:ln/>
        </p:spPr>
        <p:txBody>
          <a:bodyPr wrap="square" lIns="0" tIns="0" rIns="0" bIns="0" rtlCol="0" anchor="ctr"/>
          <a:lstStyle/>
          <a:p>
            <a:pPr indent="0" marL="0">
              <a:buNone/>
            </a:pPr>
            <a:r>
              <a:rPr lang="en-US" sz="900" b="1" dirty="0">
                <a:solidFill>
                  <a:srgbClr val="64748B"/>
                </a:solidFill>
              </a:rPr>
              <a:t>B.M.S. COLLEGE OF ENGINEERING</a:t>
            </a:r>
            <a:endParaRPr lang="en-US" sz="900" dirty="0"/>
          </a:p>
        </p:txBody>
      </p:sp>
      <p:sp>
        <p:nvSpPr>
          <p:cNvPr id="3" name="Text 1"/>
          <p:cNvSpPr/>
          <p:nvPr/>
        </p:nvSpPr>
        <p:spPr>
          <a:xfrm>
            <a:off x="640080" y="804672"/>
            <a:ext cx="4754880" cy="201168"/>
          </a:xfrm>
          <a:prstGeom prst="rect">
            <a:avLst/>
          </a:prstGeom>
          <a:noFill/>
          <a:ln/>
        </p:spPr>
        <p:txBody>
          <a:bodyPr wrap="square" lIns="0" tIns="0" rIns="0" bIns="0" rtlCol="0" anchor="ctr"/>
          <a:lstStyle/>
          <a:p>
            <a:pPr indent="0" marL="0">
              <a:buNone/>
            </a:pPr>
            <a:r>
              <a:rPr lang="en-US" sz="930" dirty="0">
                <a:solidFill>
                  <a:srgbClr val="2E6F9E"/>
                </a:solidFill>
              </a:rPr>
              <a:t>Operating Systems · Alternative Assessment Tool</a:t>
            </a:r>
            <a:endParaRPr lang="en-US" sz="930" dirty="0"/>
          </a:p>
        </p:txBody>
      </p:sp>
      <p:sp>
        <p:nvSpPr>
          <p:cNvPr id="4" name="Text 2"/>
          <p:cNvSpPr/>
          <p:nvPr/>
        </p:nvSpPr>
        <p:spPr>
          <a:xfrm>
            <a:off x="640080" y="1417320"/>
            <a:ext cx="5394960" cy="1463040"/>
          </a:xfrm>
          <a:prstGeom prst="rect">
            <a:avLst/>
          </a:prstGeom>
          <a:noFill/>
          <a:ln/>
        </p:spPr>
        <p:txBody>
          <a:bodyPr wrap="square" lIns="0" tIns="0" rIns="0" bIns="0" rtlCol="0" anchor="ctr">
            <a:normAutofit/>
          </a:bodyPr>
          <a:lstStyle/>
          <a:p>
            <a:pPr indent="0" marL="0">
              <a:buNone/>
            </a:pPr>
            <a:r>
              <a:rPr lang="en-US" sz="3200" b="1" dirty="0">
                <a:solidFill>
                  <a:srgbClr val="1F2933"/>
                </a:solidFill>
                <a:latin typeface="Aptos Display" pitchFamily="34" charset="0"/>
                <a:ea typeface="Aptos Display" pitchFamily="34" charset="-122"/>
                <a:cs typeface="Aptos Display" pitchFamily="34" charset="-120"/>
              </a:rPr>
              <a:t>OS Reliability in</a:t>
            </a:r>
            <a:endParaRPr lang="en-US" sz="3200" dirty="0"/>
          </a:p>
          <a:p>
            <a:pPr indent="0" marL="0">
              <a:buNone/>
            </a:pPr>
            <a:r>
              <a:rPr lang="en-US" sz="3200" b="1" dirty="0">
                <a:solidFill>
                  <a:srgbClr val="1F2933"/>
                </a:solidFill>
                <a:latin typeface="Aptos Display" pitchFamily="34" charset="0"/>
                <a:ea typeface="Aptos Display" pitchFamily="34" charset="-122"/>
                <a:cs typeface="Aptos Display" pitchFamily="34" charset="-120"/>
              </a:rPr>
              <a:t>AI-Assisted Lean</a:t>
            </a:r>
            <a:endParaRPr lang="en-US" sz="3200" dirty="0"/>
          </a:p>
          <a:p>
            <a:pPr indent="0" marL="0">
              <a:buNone/>
            </a:pPr>
            <a:r>
              <a:rPr lang="en-US" sz="3200" b="1" dirty="0">
                <a:solidFill>
                  <a:srgbClr val="1F2933"/>
                </a:solidFill>
                <a:latin typeface="Aptos Display" pitchFamily="34" charset="0"/>
                <a:ea typeface="Aptos Display" pitchFamily="34" charset="-122"/>
                <a:cs typeface="Aptos Display" pitchFamily="34" charset="-120"/>
              </a:rPr>
              <a:t>Visual Inspection</a:t>
            </a:r>
            <a:endParaRPr lang="en-US" sz="3200" dirty="0"/>
          </a:p>
        </p:txBody>
      </p:sp>
      <p:sp>
        <p:nvSpPr>
          <p:cNvPr id="5" name="Text 3"/>
          <p:cNvSpPr/>
          <p:nvPr/>
        </p:nvSpPr>
        <p:spPr>
          <a:xfrm>
            <a:off x="658368" y="3383280"/>
            <a:ext cx="5074920" cy="640080"/>
          </a:xfrm>
          <a:prstGeom prst="rect">
            <a:avLst/>
          </a:prstGeom>
          <a:noFill/>
          <a:ln/>
        </p:spPr>
        <p:txBody>
          <a:bodyPr wrap="square" lIns="254" tIns="254" rIns="254" bIns="254" rtlCol="0" anchor="t">
            <a:normAutofit/>
          </a:bodyPr>
          <a:lstStyle/>
          <a:p>
            <a:pPr indent="0" marL="0">
              <a:buNone/>
            </a:pPr>
            <a:r>
              <a:rPr lang="en-US" sz="1320" dirty="0">
                <a:solidFill>
                  <a:srgbClr val="1F2933"/>
                </a:solidFill>
              </a:rPr>
              <a:t>Race conditions and real-time scheduling in a smart manufacturing cell inspired by lean manufacturing and MELSOFT VIXIO-style workflows.</a:t>
            </a:r>
            <a:endParaRPr lang="en-US" sz="1320" dirty="0"/>
          </a:p>
        </p:txBody>
      </p:sp>
      <p:sp>
        <p:nvSpPr>
          <p:cNvPr id="6" name="Text 4"/>
          <p:cNvSpPr/>
          <p:nvPr/>
        </p:nvSpPr>
        <p:spPr>
          <a:xfrm>
            <a:off x="658368" y="4754880"/>
            <a:ext cx="3931920" cy="457200"/>
          </a:xfrm>
          <a:prstGeom prst="rect">
            <a:avLst/>
          </a:prstGeom>
          <a:noFill/>
          <a:ln/>
        </p:spPr>
        <p:txBody>
          <a:bodyPr wrap="square" lIns="0" tIns="0" rIns="0" bIns="0" rtlCol="0" anchor="ctr"/>
          <a:lstStyle/>
          <a:p>
            <a:pPr indent="0" marL="0">
              <a:buNone/>
            </a:pPr>
            <a:r>
              <a:rPr lang="en-US" sz="1150" b="1" dirty="0">
                <a:solidFill>
                  <a:srgbClr val="1F2933"/>
                </a:solidFill>
              </a:rPr>
              <a:t>Yashwanth J · 1BM24AI196</a:t>
            </a:r>
            <a:endParaRPr lang="en-US" sz="1150" dirty="0"/>
          </a:p>
          <a:p>
            <a:pPr indent="0" marL="0">
              <a:buNone/>
            </a:pPr>
            <a:r>
              <a:rPr lang="en-US" sz="1150" b="1" dirty="0">
                <a:solidFill>
                  <a:srgbClr val="1F2933"/>
                </a:solidFill>
              </a:rPr>
              <a:t>Vrishin Dutt CG · 1BM24AI195</a:t>
            </a:r>
            <a:endParaRPr lang="en-US" sz="1150" dirty="0"/>
          </a:p>
        </p:txBody>
      </p:sp>
      <p:sp>
        <p:nvSpPr>
          <p:cNvPr id="7" name="Text 5"/>
          <p:cNvSpPr/>
          <p:nvPr/>
        </p:nvSpPr>
        <p:spPr>
          <a:xfrm>
            <a:off x="658368" y="5349240"/>
            <a:ext cx="3474720" cy="201168"/>
          </a:xfrm>
          <a:prstGeom prst="rect">
            <a:avLst/>
          </a:prstGeom>
          <a:noFill/>
          <a:ln/>
        </p:spPr>
        <p:txBody>
          <a:bodyPr wrap="square" lIns="0" tIns="0" rIns="0" bIns="0" rtlCol="0" anchor="ctr"/>
          <a:lstStyle/>
          <a:p>
            <a:pPr indent="0" marL="0">
              <a:buNone/>
            </a:pPr>
            <a:r>
              <a:rPr lang="en-US" sz="980" dirty="0">
                <a:solidFill>
                  <a:srgbClr val="64748B"/>
                </a:solidFill>
              </a:rPr>
              <a:t>Semester 4 · B.E. AIML</a:t>
            </a:r>
            <a:endParaRPr lang="en-US" sz="980" dirty="0"/>
          </a:p>
        </p:txBody>
      </p:sp>
      <p:pic>
        <p:nvPicPr>
          <p:cNvPr id="8" name="Image 0" descr="/mnt/data/conveyor_ai_inspection.jpg">    </p:cNvPr>
          <p:cNvPicPr>
            <a:picLocks noChangeAspect="1"/>
          </p:cNvPicPr>
          <p:nvPr/>
        </p:nvPicPr>
        <p:blipFill>
          <a:blip r:embed="rId1"/>
          <a:stretch>
            <a:fillRect/>
          </a:stretch>
        </p:blipFill>
        <p:spPr>
          <a:xfrm>
            <a:off x="6537960" y="1814512"/>
            <a:ext cx="4846320" cy="2726055"/>
          </a:xfrm>
          <a:prstGeom prst="rect">
            <a:avLst/>
          </a:prstGeom>
        </p:spPr>
      </p:pic>
      <p:sp>
        <p:nvSpPr>
          <p:cNvPr id="9" name="Text 6"/>
          <p:cNvSpPr/>
          <p:nvPr/>
        </p:nvSpPr>
        <p:spPr>
          <a:xfrm>
            <a:off x="6537960" y="5532120"/>
            <a:ext cx="4846320" cy="164592"/>
          </a:xfrm>
          <a:prstGeom prst="rect">
            <a:avLst/>
          </a:prstGeom>
          <a:noFill/>
          <a:ln/>
        </p:spPr>
        <p:txBody>
          <a:bodyPr wrap="square" lIns="0" tIns="0" rIns="0" bIns="0" rtlCol="0" anchor="ctr"/>
          <a:lstStyle/>
          <a:p>
            <a:pPr algn="ctr" indent="0" marL="0">
              <a:buNone/>
            </a:pPr>
            <a:r>
              <a:rPr lang="en-US" sz="720" dirty="0">
                <a:solidFill>
                  <a:srgbClr val="64748B"/>
                </a:solidFill>
              </a:rPr>
              <a:t>Image: AI-enabled conveyor inspection cell</a:t>
            </a:r>
            <a:endParaRPr lang="en-US" sz="7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548640" y="502920"/>
            <a:ext cx="11064240" cy="0"/>
          </a:xfrm>
          <a:prstGeom prst="line">
            <a:avLst/>
          </a:prstGeom>
          <a:noFill/>
          <a:ln w="12700">
            <a:solidFill>
              <a:srgbClr val="D5DDE5"/>
            </a:solidFill>
            <a:prstDash val="solid"/>
          </a:ln>
        </p:spPr>
      </p:sp>
      <p:sp>
        <p:nvSpPr>
          <p:cNvPr id="3" name="Text 1"/>
          <p:cNvSpPr/>
          <p:nvPr/>
        </p:nvSpPr>
        <p:spPr>
          <a:xfrm>
            <a:off x="685800" y="685800"/>
            <a:ext cx="4389120" cy="201168"/>
          </a:xfrm>
          <a:prstGeom prst="rect">
            <a:avLst/>
          </a:prstGeom>
          <a:noFill/>
          <a:ln/>
        </p:spPr>
        <p:txBody>
          <a:bodyPr wrap="square" lIns="0" tIns="0" rIns="0" bIns="0" rtlCol="0" anchor="ctr"/>
          <a:lstStyle/>
          <a:p>
            <a:pPr indent="0" marL="0">
              <a:buNone/>
            </a:pPr>
            <a:r>
              <a:rPr lang="en-US" sz="850" b="1" dirty="0">
                <a:solidFill>
                  <a:srgbClr val="64748B"/>
                </a:solidFill>
              </a:rPr>
              <a:t>PROBLEM</a:t>
            </a:r>
            <a:endParaRPr lang="en-US" sz="850" dirty="0"/>
          </a:p>
        </p:txBody>
      </p:sp>
      <p:sp>
        <p:nvSpPr>
          <p:cNvPr id="4" name="Text 2"/>
          <p:cNvSpPr/>
          <p:nvPr/>
        </p:nvSpPr>
        <p:spPr>
          <a:xfrm>
            <a:off x="685800" y="960120"/>
            <a:ext cx="10241280" cy="411480"/>
          </a:xfrm>
          <a:prstGeom prst="rect">
            <a:avLst/>
          </a:prstGeom>
          <a:noFill/>
          <a:ln/>
        </p:spPr>
        <p:txBody>
          <a:bodyPr wrap="square" lIns="0" tIns="0" rIns="0" bIns="0" rtlCol="0" anchor="ctr">
            <a:normAutofit/>
          </a:bodyP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Why this is an OS project</a:t>
            </a:r>
            <a:endParaRPr lang="en-US" sz="2500" dirty="0"/>
          </a:p>
        </p:txBody>
      </p:sp>
      <p:sp>
        <p:nvSpPr>
          <p:cNvPr id="5" name="Text 3"/>
          <p:cNvSpPr/>
          <p:nvPr/>
        </p:nvSpPr>
        <p:spPr>
          <a:xfrm>
            <a:off x="704088" y="1490472"/>
            <a:ext cx="9875520" cy="292608"/>
          </a:xfrm>
          <a:prstGeom prst="rect">
            <a:avLst/>
          </a:prstGeom>
          <a:noFill/>
          <a:ln/>
        </p:spPr>
        <p:txBody>
          <a:bodyPr wrap="square" lIns="0" tIns="0" rIns="0" bIns="0" rtlCol="0" anchor="ctr">
            <a:normAutofit/>
          </a:bodyPr>
          <a:lstStyle/>
          <a:p>
            <a:pPr indent="0" marL="0">
              <a:buNone/>
            </a:pPr>
            <a:r>
              <a:rPr lang="en-US" sz="1150" dirty="0">
                <a:solidFill>
                  <a:srgbClr val="64748B"/>
                </a:solidFill>
              </a:rPr>
              <a:t>Automation shifts quality risk from human judgement to software coordination.</a:t>
            </a:r>
            <a:endParaRPr lang="en-US" sz="1150" dirty="0"/>
          </a:p>
        </p:txBody>
      </p:sp>
      <p:sp>
        <p:nvSpPr>
          <p:cNvPr id="6" name="Text 4"/>
          <p:cNvSpPr/>
          <p:nvPr/>
        </p:nvSpPr>
        <p:spPr>
          <a:xfrm>
            <a:off x="731520" y="2148840"/>
            <a:ext cx="5394960" cy="914400"/>
          </a:xfrm>
          <a:prstGeom prst="rect">
            <a:avLst/>
          </a:prstGeom>
          <a:noFill/>
          <a:ln/>
        </p:spPr>
        <p:txBody>
          <a:bodyPr wrap="square" lIns="254" tIns="254" rIns="254" bIns="254" rtlCol="0" anchor="t">
            <a:normAutofit/>
          </a:bodyPr>
          <a:lstStyle/>
          <a:p>
            <a:pPr indent="0" marL="0">
              <a:buNone/>
            </a:pPr>
            <a:r>
              <a:rPr lang="en-US" sz="1500" dirty="0">
                <a:solidFill>
                  <a:srgbClr val="1F2933"/>
                </a:solidFill>
              </a:rPr>
              <a:t>A smart inspection cell runs sensor, camera, AI inference, rule inspection, actuator, and logging tasks concurrently. If shared product state is not synchronized, the output can depend on timing rather than logic.</a:t>
            </a:r>
            <a:endParaRPr lang="en-US" sz="1500" dirty="0"/>
          </a:p>
        </p:txBody>
      </p:sp>
      <p:sp>
        <p:nvSpPr>
          <p:cNvPr id="7" name="Text 5"/>
          <p:cNvSpPr/>
          <p:nvPr/>
        </p:nvSpPr>
        <p:spPr>
          <a:xfrm>
            <a:off x="777240" y="3886200"/>
            <a:ext cx="1143000" cy="320040"/>
          </a:xfrm>
          <a:prstGeom prst="rect">
            <a:avLst/>
          </a:prstGeom>
          <a:noFill/>
          <a:ln/>
        </p:spPr>
        <p:txBody>
          <a:bodyPr wrap="square" lIns="0" tIns="0" rIns="0" bIns="0" rtlCol="0" anchor="ctr"/>
          <a:lstStyle/>
          <a:p>
            <a:pPr indent="0" marL="0">
              <a:buNone/>
            </a:pPr>
            <a:r>
              <a:rPr lang="en-US" sz="2200" b="1" dirty="0">
                <a:solidFill>
                  <a:srgbClr val="2E6F9E"/>
                </a:solidFill>
                <a:latin typeface="Aptos Display" pitchFamily="34" charset="0"/>
                <a:ea typeface="Aptos Display" pitchFamily="34" charset="-122"/>
                <a:cs typeface="Aptos Display" pitchFamily="34" charset="-120"/>
              </a:rPr>
              <a:t>7</a:t>
            </a:r>
            <a:endParaRPr lang="en-US" sz="2200" dirty="0"/>
          </a:p>
        </p:txBody>
      </p:sp>
      <p:sp>
        <p:nvSpPr>
          <p:cNvPr id="8" name="Text 6"/>
          <p:cNvSpPr/>
          <p:nvPr/>
        </p:nvSpPr>
        <p:spPr>
          <a:xfrm>
            <a:off x="777240" y="4233672"/>
            <a:ext cx="1828800" cy="256032"/>
          </a:xfrm>
          <a:prstGeom prst="rect">
            <a:avLst/>
          </a:prstGeom>
          <a:noFill/>
          <a:ln/>
        </p:spPr>
        <p:txBody>
          <a:bodyPr wrap="square" lIns="0" tIns="0" rIns="0" bIns="0" rtlCol="0" anchor="ctr">
            <a:normAutofit/>
          </a:bodyPr>
          <a:lstStyle/>
          <a:p>
            <a:pPr indent="0" marL="0">
              <a:buNone/>
            </a:pPr>
            <a:r>
              <a:rPr lang="en-US" sz="870" dirty="0">
                <a:solidFill>
                  <a:srgbClr val="64748B"/>
                </a:solidFill>
              </a:rPr>
              <a:t>concurrent tasks</a:t>
            </a:r>
            <a:endParaRPr lang="en-US" sz="870" dirty="0"/>
          </a:p>
        </p:txBody>
      </p:sp>
      <p:sp>
        <p:nvSpPr>
          <p:cNvPr id="9" name="Text 7"/>
          <p:cNvSpPr/>
          <p:nvPr/>
        </p:nvSpPr>
        <p:spPr>
          <a:xfrm>
            <a:off x="2697480" y="3886200"/>
            <a:ext cx="1143000" cy="320040"/>
          </a:xfrm>
          <a:prstGeom prst="rect">
            <a:avLst/>
          </a:prstGeom>
          <a:noFill/>
          <a:ln/>
        </p:spPr>
        <p:txBody>
          <a:bodyPr wrap="square" lIns="0" tIns="0" rIns="0" bIns="0" rtlCol="0" anchor="ctr"/>
          <a:lstStyle/>
          <a:p>
            <a:pPr indent="0" marL="0">
              <a:buNone/>
            </a:pPr>
            <a:r>
              <a:rPr lang="en-US" sz="2200" b="1" dirty="0">
                <a:solidFill>
                  <a:srgbClr val="7C3AED"/>
                </a:solidFill>
                <a:latin typeface="Aptos Display" pitchFamily="34" charset="0"/>
                <a:ea typeface="Aptos Display" pitchFamily="34" charset="-122"/>
                <a:cs typeface="Aptos Display" pitchFamily="34" charset="-120"/>
              </a:rPr>
              <a:t>5</a:t>
            </a:r>
            <a:endParaRPr lang="en-US" sz="2200" dirty="0"/>
          </a:p>
        </p:txBody>
      </p:sp>
      <p:sp>
        <p:nvSpPr>
          <p:cNvPr id="10" name="Text 8"/>
          <p:cNvSpPr/>
          <p:nvPr/>
        </p:nvSpPr>
        <p:spPr>
          <a:xfrm>
            <a:off x="2697480" y="4233672"/>
            <a:ext cx="1828800" cy="256032"/>
          </a:xfrm>
          <a:prstGeom prst="rect">
            <a:avLst/>
          </a:prstGeom>
          <a:noFill/>
          <a:ln/>
        </p:spPr>
        <p:txBody>
          <a:bodyPr wrap="square" lIns="0" tIns="0" rIns="0" bIns="0" rtlCol="0" anchor="ctr">
            <a:normAutofit/>
          </a:bodyPr>
          <a:lstStyle/>
          <a:p>
            <a:pPr indent="0" marL="0">
              <a:buNone/>
            </a:pPr>
            <a:r>
              <a:rPr lang="en-US" sz="870" dirty="0">
                <a:solidFill>
                  <a:srgbClr val="64748B"/>
                </a:solidFill>
              </a:rPr>
              <a:t>schedulers</a:t>
            </a:r>
            <a:endParaRPr lang="en-US" sz="870" dirty="0"/>
          </a:p>
        </p:txBody>
      </p:sp>
      <p:sp>
        <p:nvSpPr>
          <p:cNvPr id="11" name="Text 9"/>
          <p:cNvSpPr/>
          <p:nvPr/>
        </p:nvSpPr>
        <p:spPr>
          <a:xfrm>
            <a:off x="4572000" y="3886200"/>
            <a:ext cx="1143000" cy="320040"/>
          </a:xfrm>
          <a:prstGeom prst="rect">
            <a:avLst/>
          </a:prstGeom>
          <a:noFill/>
          <a:ln/>
        </p:spPr>
        <p:txBody>
          <a:bodyPr wrap="square" lIns="0" tIns="0" rIns="0" bIns="0" rtlCol="0" anchor="ctr"/>
          <a:lstStyle/>
          <a:p>
            <a:pPr indent="0" marL="0">
              <a:buNone/>
            </a:pPr>
            <a:r>
              <a:rPr lang="en-US" sz="2200" b="1" dirty="0">
                <a:solidFill>
                  <a:srgbClr val="D64545"/>
                </a:solidFill>
                <a:latin typeface="Aptos Display" pitchFamily="34" charset="0"/>
                <a:ea typeface="Aptos Display" pitchFamily="34" charset="-122"/>
                <a:cs typeface="Aptos Display" pitchFamily="34" charset="-120"/>
              </a:rPr>
              <a:t>2</a:t>
            </a:r>
            <a:endParaRPr lang="en-US" sz="2200" dirty="0"/>
          </a:p>
        </p:txBody>
      </p:sp>
      <p:sp>
        <p:nvSpPr>
          <p:cNvPr id="12" name="Text 10"/>
          <p:cNvSpPr/>
          <p:nvPr/>
        </p:nvSpPr>
        <p:spPr>
          <a:xfrm>
            <a:off x="4572000" y="4233672"/>
            <a:ext cx="1828800" cy="256032"/>
          </a:xfrm>
          <a:prstGeom prst="rect">
            <a:avLst/>
          </a:prstGeom>
          <a:noFill/>
          <a:ln/>
        </p:spPr>
        <p:txBody>
          <a:bodyPr wrap="square" lIns="0" tIns="0" rIns="0" bIns="0" rtlCol="0" anchor="ctr">
            <a:normAutofit/>
          </a:bodyPr>
          <a:lstStyle/>
          <a:p>
            <a:pPr indent="0" marL="0">
              <a:buNone/>
            </a:pPr>
            <a:r>
              <a:rPr lang="en-US" sz="870" dirty="0">
                <a:solidFill>
                  <a:srgbClr val="64748B"/>
                </a:solidFill>
              </a:rPr>
              <a:t>race modes</a:t>
            </a:r>
            <a:endParaRPr lang="en-US" sz="870" dirty="0"/>
          </a:p>
        </p:txBody>
      </p:sp>
      <p:pic>
        <p:nvPicPr>
          <p:cNvPr id="13" name="Image 0" descr="/mnt/data/vision_systems.png">    </p:cNvPr>
          <p:cNvPicPr>
            <a:picLocks noChangeAspect="1"/>
          </p:cNvPicPr>
          <p:nvPr/>
        </p:nvPicPr>
        <p:blipFill>
          <a:blip r:embed="rId1"/>
          <a:stretch>
            <a:fillRect/>
          </a:stretch>
        </p:blipFill>
        <p:spPr>
          <a:xfrm>
            <a:off x="6629400" y="2338864"/>
            <a:ext cx="4526280" cy="2546033"/>
          </a:xfrm>
          <a:prstGeom prst="rect">
            <a:avLst/>
          </a:prstGeom>
        </p:spPr>
      </p:pic>
      <p:sp>
        <p:nvSpPr>
          <p:cNvPr id="14" name="Shape 11"/>
          <p:cNvSpPr/>
          <p:nvPr/>
        </p:nvSpPr>
        <p:spPr>
          <a:xfrm>
            <a:off x="914400" y="5577840"/>
            <a:ext cx="10241280" cy="438912"/>
          </a:xfrm>
          <a:prstGeom prst="roundRect">
            <a:avLst>
              <a:gd name="adj" fmla="val 14583"/>
            </a:avLst>
          </a:prstGeom>
          <a:solidFill>
            <a:srgbClr val="F4F8FB"/>
          </a:solidFill>
          <a:ln w="12700">
            <a:solidFill>
              <a:srgbClr val="D5DDE5"/>
            </a:solidFill>
            <a:prstDash val="solid"/>
          </a:ln>
        </p:spPr>
      </p:sp>
      <p:sp>
        <p:nvSpPr>
          <p:cNvPr id="15" name="Text 12"/>
          <p:cNvSpPr/>
          <p:nvPr/>
        </p:nvSpPr>
        <p:spPr>
          <a:xfrm>
            <a:off x="978408" y="5641848"/>
            <a:ext cx="10113264" cy="310896"/>
          </a:xfrm>
          <a:prstGeom prst="rect">
            <a:avLst/>
          </a:prstGeom>
          <a:noFill/>
          <a:ln/>
        </p:spPr>
        <p:txBody>
          <a:bodyPr wrap="square" lIns="0" tIns="0" rIns="0" bIns="0" rtlCol="0" anchor="ctr">
            <a:normAutofit/>
          </a:bodyPr>
          <a:lstStyle/>
          <a:p>
            <a:pPr algn="ctr" indent="0" marL="0">
              <a:buNone/>
            </a:pPr>
            <a:r>
              <a:rPr lang="en-US" sz="1300" b="1" dirty="0">
                <a:solidFill>
                  <a:srgbClr val="1F2933"/>
                </a:solidFill>
              </a:rPr>
              <a:t>Core thesis: in automated inspection, race conditions can become quality-control failures.</a:t>
            </a:r>
            <a:endParaRPr lang="en-US" sz="1300" dirty="0"/>
          </a:p>
        </p:txBody>
      </p:sp>
      <p:sp>
        <p:nvSpPr>
          <p:cNvPr id="16" name="Shape 13"/>
          <p:cNvSpPr/>
          <p:nvPr/>
        </p:nvSpPr>
        <p:spPr>
          <a:xfrm>
            <a:off x="548640" y="6446520"/>
            <a:ext cx="11064240" cy="0"/>
          </a:xfrm>
          <a:prstGeom prst="line">
            <a:avLst/>
          </a:prstGeom>
          <a:noFill/>
          <a:ln w="10160">
            <a:solidFill>
              <a:srgbClr val="D5DDE5"/>
            </a:solidFill>
            <a:prstDash val="solid"/>
          </a:ln>
        </p:spPr>
      </p:sp>
      <p:sp>
        <p:nvSpPr>
          <p:cNvPr id="17" name="Text 14"/>
          <p:cNvSpPr/>
          <p:nvPr/>
        </p:nvSpPr>
        <p:spPr>
          <a:xfrm>
            <a:off x="548640" y="6547104"/>
            <a:ext cx="5029200" cy="164592"/>
          </a:xfrm>
          <a:prstGeom prst="rect">
            <a:avLst/>
          </a:prstGeom>
          <a:noFill/>
          <a:ln/>
        </p:spPr>
        <p:txBody>
          <a:bodyPr wrap="square" lIns="0" tIns="0" rIns="0" bIns="0" rtlCol="0" anchor="ctr"/>
          <a:lstStyle/>
          <a:p>
            <a:pPr indent="0" marL="0">
              <a:buNone/>
            </a:pPr>
            <a:r>
              <a:rPr lang="en-US" sz="750" dirty="0">
                <a:solidFill>
                  <a:srgbClr val="64748B"/>
                </a:solidFill>
              </a:rPr>
              <a:t>OS Reliability in AI-Assisted Lean Visual Inspection</a:t>
            </a:r>
            <a:endParaRPr lang="en-US" sz="750" dirty="0"/>
          </a:p>
        </p:txBody>
      </p:sp>
      <p:sp>
        <p:nvSpPr>
          <p:cNvPr id="18" name="Text 15"/>
          <p:cNvSpPr/>
          <p:nvPr/>
        </p:nvSpPr>
        <p:spPr>
          <a:xfrm>
            <a:off x="10789920" y="6547104"/>
            <a:ext cx="822960" cy="164592"/>
          </a:xfrm>
          <a:prstGeom prst="rect">
            <a:avLst/>
          </a:prstGeom>
          <a:noFill/>
          <a:ln/>
        </p:spPr>
        <p:txBody>
          <a:bodyPr wrap="square" lIns="0" tIns="0" rIns="0" bIns="0" rtlCol="0" anchor="ctr"/>
          <a:lstStyle/>
          <a:p>
            <a:pPr algn="r" indent="0" marL="0">
              <a:buNone/>
            </a:pPr>
            <a:r>
              <a:rPr lang="en-US" sz="750" dirty="0">
                <a:solidFill>
                  <a:srgbClr val="64748B"/>
                </a:solidFill>
              </a:rPr>
              <a:t>Slide 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548640" y="502920"/>
            <a:ext cx="11064240" cy="0"/>
          </a:xfrm>
          <a:prstGeom prst="line">
            <a:avLst/>
          </a:prstGeom>
          <a:noFill/>
          <a:ln w="12700">
            <a:solidFill>
              <a:srgbClr val="D5DDE5"/>
            </a:solidFill>
            <a:prstDash val="solid"/>
          </a:ln>
        </p:spPr>
      </p:sp>
      <p:sp>
        <p:nvSpPr>
          <p:cNvPr id="3" name="Text 1"/>
          <p:cNvSpPr/>
          <p:nvPr/>
        </p:nvSpPr>
        <p:spPr>
          <a:xfrm>
            <a:off x="685800" y="685800"/>
            <a:ext cx="4389120" cy="201168"/>
          </a:xfrm>
          <a:prstGeom prst="rect">
            <a:avLst/>
          </a:prstGeom>
          <a:noFill/>
          <a:ln/>
        </p:spPr>
        <p:txBody>
          <a:bodyPr wrap="square" lIns="0" tIns="0" rIns="0" bIns="0" rtlCol="0" anchor="ctr"/>
          <a:lstStyle/>
          <a:p>
            <a:pPr indent="0" marL="0">
              <a:buNone/>
            </a:pPr>
            <a:r>
              <a:rPr lang="en-US" sz="850" b="1" dirty="0">
                <a:solidFill>
                  <a:srgbClr val="64748B"/>
                </a:solidFill>
              </a:rPr>
              <a:t>CASE STUDY</a:t>
            </a:r>
            <a:endParaRPr lang="en-US" sz="850" dirty="0"/>
          </a:p>
        </p:txBody>
      </p:sp>
      <p:sp>
        <p:nvSpPr>
          <p:cNvPr id="4" name="Text 2"/>
          <p:cNvSpPr/>
          <p:nvPr/>
        </p:nvSpPr>
        <p:spPr>
          <a:xfrm>
            <a:off x="685800" y="960120"/>
            <a:ext cx="10241280" cy="411480"/>
          </a:xfrm>
          <a:prstGeom prst="rect">
            <a:avLst/>
          </a:prstGeom>
          <a:noFill/>
          <a:ln/>
        </p:spPr>
        <p:txBody>
          <a:bodyPr wrap="square" lIns="0" tIns="0" rIns="0" bIns="0" rtlCol="0" anchor="ctr">
            <a:normAutofit/>
          </a:bodyP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Lean inspection cell as concurrent tasks</a:t>
            </a:r>
            <a:endParaRPr lang="en-US" sz="2500" dirty="0"/>
          </a:p>
        </p:txBody>
      </p:sp>
      <p:sp>
        <p:nvSpPr>
          <p:cNvPr id="5" name="Text 3"/>
          <p:cNvSpPr/>
          <p:nvPr/>
        </p:nvSpPr>
        <p:spPr>
          <a:xfrm>
            <a:off x="704088" y="1490472"/>
            <a:ext cx="9875520" cy="292608"/>
          </a:xfrm>
          <a:prstGeom prst="rect">
            <a:avLst/>
          </a:prstGeom>
          <a:noFill/>
          <a:ln/>
        </p:spPr>
        <p:txBody>
          <a:bodyPr wrap="square" lIns="0" tIns="0" rIns="0" bIns="0" rtlCol="0" anchor="ctr">
            <a:normAutofit/>
          </a:bodyPr>
          <a:lstStyle/>
          <a:p>
            <a:pPr indent="0" marL="0">
              <a:buNone/>
            </a:pPr>
            <a:r>
              <a:rPr lang="en-US" sz="1150" dirty="0">
                <a:solidFill>
                  <a:srgbClr val="64748B"/>
                </a:solidFill>
              </a:rPr>
              <a:t>Each physical station maps to an OS abstraction.</a:t>
            </a:r>
            <a:endParaRPr lang="en-US" sz="1150" dirty="0"/>
          </a:p>
        </p:txBody>
      </p:sp>
      <p:sp>
        <p:nvSpPr>
          <p:cNvPr id="6" name="Text 4"/>
          <p:cNvSpPr/>
          <p:nvPr/>
        </p:nvSpPr>
        <p:spPr>
          <a:xfrm>
            <a:off x="731520" y="2011680"/>
            <a:ext cx="10424160" cy="475488"/>
          </a:xfrm>
          <a:prstGeom prst="rect">
            <a:avLst/>
          </a:prstGeom>
          <a:noFill/>
          <a:ln/>
        </p:spPr>
        <p:txBody>
          <a:bodyPr wrap="square" lIns="254" tIns="254" rIns="254" bIns="254" rtlCol="0" anchor="t">
            <a:normAutofit/>
          </a:bodyPr>
          <a:lstStyle/>
          <a:p>
            <a:pPr indent="0" marL="0">
              <a:buNone/>
            </a:pPr>
            <a:r>
              <a:rPr lang="en-US" sz="1380" dirty="0">
                <a:solidFill>
                  <a:srgbClr val="1F2933"/>
                </a:solidFill>
              </a:rPr>
              <a:t>The conveyor creates both shared-state risk and timing pressure. The same system can therefore demonstrate race conditions and scheduling algorithms coherently.</a:t>
            </a:r>
            <a:endParaRPr lang="en-US" sz="1380" dirty="0"/>
          </a:p>
        </p:txBody>
      </p:sp>
      <p:sp>
        <p:nvSpPr>
          <p:cNvPr id="7" name="Shape 5"/>
          <p:cNvSpPr/>
          <p:nvPr/>
        </p:nvSpPr>
        <p:spPr>
          <a:xfrm>
            <a:off x="1856232" y="3593592"/>
            <a:ext cx="301752" cy="0"/>
          </a:xfrm>
          <a:prstGeom prst="line">
            <a:avLst/>
          </a:prstGeom>
          <a:noFill/>
          <a:ln w="16510">
            <a:solidFill>
              <a:srgbClr val="2E6F9E"/>
            </a:solidFill>
            <a:prstDash val="solid"/>
            <a:tailEnd type="triangle"/>
          </a:ln>
        </p:spPr>
      </p:sp>
      <p:sp>
        <p:nvSpPr>
          <p:cNvPr id="8" name="Shape 6"/>
          <p:cNvSpPr/>
          <p:nvPr/>
        </p:nvSpPr>
        <p:spPr>
          <a:xfrm>
            <a:off x="3419856" y="3593592"/>
            <a:ext cx="301752" cy="0"/>
          </a:xfrm>
          <a:prstGeom prst="line">
            <a:avLst/>
          </a:prstGeom>
          <a:noFill/>
          <a:ln w="16510">
            <a:solidFill>
              <a:srgbClr val="2E6F9E"/>
            </a:solidFill>
            <a:prstDash val="solid"/>
            <a:tailEnd type="triangle"/>
          </a:ln>
        </p:spPr>
      </p:sp>
      <p:sp>
        <p:nvSpPr>
          <p:cNvPr id="9" name="Shape 7"/>
          <p:cNvSpPr/>
          <p:nvPr/>
        </p:nvSpPr>
        <p:spPr>
          <a:xfrm>
            <a:off x="4983480" y="3593592"/>
            <a:ext cx="301752" cy="0"/>
          </a:xfrm>
          <a:prstGeom prst="line">
            <a:avLst/>
          </a:prstGeom>
          <a:noFill/>
          <a:ln w="16510">
            <a:solidFill>
              <a:srgbClr val="2E6F9E"/>
            </a:solidFill>
            <a:prstDash val="solid"/>
            <a:tailEnd type="triangle"/>
          </a:ln>
        </p:spPr>
      </p:sp>
      <p:sp>
        <p:nvSpPr>
          <p:cNvPr id="10" name="Shape 8"/>
          <p:cNvSpPr/>
          <p:nvPr/>
        </p:nvSpPr>
        <p:spPr>
          <a:xfrm>
            <a:off x="6547104" y="3593592"/>
            <a:ext cx="301752" cy="0"/>
          </a:xfrm>
          <a:prstGeom prst="line">
            <a:avLst/>
          </a:prstGeom>
          <a:noFill/>
          <a:ln w="16510">
            <a:solidFill>
              <a:srgbClr val="2E6F9E"/>
            </a:solidFill>
            <a:prstDash val="solid"/>
            <a:tailEnd type="triangle"/>
          </a:ln>
        </p:spPr>
      </p:sp>
      <p:sp>
        <p:nvSpPr>
          <p:cNvPr id="11" name="Shape 9"/>
          <p:cNvSpPr/>
          <p:nvPr/>
        </p:nvSpPr>
        <p:spPr>
          <a:xfrm>
            <a:off x="8110728" y="3593592"/>
            <a:ext cx="301752" cy="0"/>
          </a:xfrm>
          <a:prstGeom prst="line">
            <a:avLst/>
          </a:prstGeom>
          <a:noFill/>
          <a:ln w="16510">
            <a:solidFill>
              <a:srgbClr val="2E6F9E"/>
            </a:solidFill>
            <a:prstDash val="solid"/>
            <a:tailEnd type="triangle"/>
          </a:ln>
        </p:spPr>
      </p:sp>
      <p:sp>
        <p:nvSpPr>
          <p:cNvPr id="12" name="Shape 10"/>
          <p:cNvSpPr/>
          <p:nvPr/>
        </p:nvSpPr>
        <p:spPr>
          <a:xfrm>
            <a:off x="9674352" y="3593592"/>
            <a:ext cx="301752" cy="0"/>
          </a:xfrm>
          <a:prstGeom prst="line">
            <a:avLst/>
          </a:prstGeom>
          <a:noFill/>
          <a:ln w="16510">
            <a:solidFill>
              <a:srgbClr val="2E6F9E"/>
            </a:solidFill>
            <a:prstDash val="solid"/>
            <a:tailEnd type="triangle"/>
          </a:ln>
        </p:spPr>
      </p:sp>
      <p:sp>
        <p:nvSpPr>
          <p:cNvPr id="13" name="Shape 11"/>
          <p:cNvSpPr/>
          <p:nvPr/>
        </p:nvSpPr>
        <p:spPr>
          <a:xfrm>
            <a:off x="594360" y="3246120"/>
            <a:ext cx="1261872" cy="658368"/>
          </a:xfrm>
          <a:prstGeom prst="roundRect">
            <a:avLst>
              <a:gd name="adj" fmla="val 9722"/>
            </a:avLst>
          </a:prstGeom>
          <a:solidFill>
            <a:srgbClr val="FFFFFF"/>
          </a:solidFill>
          <a:ln w="12700">
            <a:solidFill>
              <a:srgbClr val="D5DDE5"/>
            </a:solidFill>
            <a:prstDash val="solid"/>
          </a:ln>
        </p:spPr>
      </p:sp>
      <p:sp>
        <p:nvSpPr>
          <p:cNvPr id="14" name="Text 12"/>
          <p:cNvSpPr/>
          <p:nvPr/>
        </p:nvSpPr>
        <p:spPr>
          <a:xfrm>
            <a:off x="658368" y="3310128"/>
            <a:ext cx="1133856" cy="530352"/>
          </a:xfrm>
          <a:prstGeom prst="rect">
            <a:avLst/>
          </a:prstGeom>
          <a:noFill/>
          <a:ln/>
        </p:spPr>
        <p:txBody>
          <a:bodyPr wrap="square" lIns="0" tIns="0" rIns="0" bIns="0" rtlCol="0" anchor="ctr">
            <a:normAutofit/>
          </a:bodyPr>
          <a:lstStyle/>
          <a:p>
            <a:pPr algn="ctr" indent="0" marL="0">
              <a:buNone/>
            </a:pPr>
            <a:r>
              <a:rPr lang="en-US" sz="1200" b="1" dirty="0">
                <a:solidFill>
                  <a:srgbClr val="1F2933"/>
                </a:solidFill>
              </a:rPr>
              <a:t>Sensor</a:t>
            </a:r>
            <a:endParaRPr lang="en-US" sz="1200" dirty="0"/>
          </a:p>
        </p:txBody>
      </p:sp>
      <p:sp>
        <p:nvSpPr>
          <p:cNvPr id="15" name="Text 13"/>
          <p:cNvSpPr/>
          <p:nvPr/>
        </p:nvSpPr>
        <p:spPr>
          <a:xfrm>
            <a:off x="594360" y="4014216"/>
            <a:ext cx="1261872" cy="164592"/>
          </a:xfrm>
          <a:prstGeom prst="rect">
            <a:avLst/>
          </a:prstGeom>
          <a:noFill/>
          <a:ln/>
        </p:spPr>
        <p:txBody>
          <a:bodyPr wrap="square" lIns="0" tIns="0" rIns="0" bIns="0" rtlCol="0" anchor="ctr"/>
          <a:lstStyle/>
          <a:p>
            <a:pPr algn="ctr" indent="0" marL="0">
              <a:buNone/>
            </a:pPr>
            <a:r>
              <a:rPr lang="en-US" sz="820" dirty="0">
                <a:solidFill>
                  <a:srgbClr val="64748B"/>
                </a:solidFill>
              </a:rPr>
              <a:t>producer</a:t>
            </a:r>
            <a:endParaRPr lang="en-US" sz="820" dirty="0"/>
          </a:p>
        </p:txBody>
      </p:sp>
      <p:sp>
        <p:nvSpPr>
          <p:cNvPr id="16" name="Shape 14"/>
          <p:cNvSpPr/>
          <p:nvPr/>
        </p:nvSpPr>
        <p:spPr>
          <a:xfrm>
            <a:off x="2157984" y="3246120"/>
            <a:ext cx="1261872" cy="658368"/>
          </a:xfrm>
          <a:prstGeom prst="roundRect">
            <a:avLst>
              <a:gd name="adj" fmla="val 9722"/>
            </a:avLst>
          </a:prstGeom>
          <a:solidFill>
            <a:srgbClr val="FFFFFF"/>
          </a:solidFill>
          <a:ln w="12700">
            <a:solidFill>
              <a:srgbClr val="D5DDE5"/>
            </a:solidFill>
            <a:prstDash val="solid"/>
          </a:ln>
        </p:spPr>
      </p:sp>
      <p:sp>
        <p:nvSpPr>
          <p:cNvPr id="17" name="Text 15"/>
          <p:cNvSpPr/>
          <p:nvPr/>
        </p:nvSpPr>
        <p:spPr>
          <a:xfrm>
            <a:off x="2221992" y="3310128"/>
            <a:ext cx="1133856" cy="530352"/>
          </a:xfrm>
          <a:prstGeom prst="rect">
            <a:avLst/>
          </a:prstGeom>
          <a:noFill/>
          <a:ln/>
        </p:spPr>
        <p:txBody>
          <a:bodyPr wrap="square" lIns="0" tIns="0" rIns="0" bIns="0" rtlCol="0" anchor="ctr">
            <a:normAutofit/>
          </a:bodyPr>
          <a:lstStyle/>
          <a:p>
            <a:pPr algn="ctr" indent="0" marL="0">
              <a:buNone/>
            </a:pPr>
            <a:r>
              <a:rPr lang="en-US" sz="1200" b="1" dirty="0">
                <a:solidFill>
                  <a:srgbClr val="1F2933"/>
                </a:solidFill>
              </a:rPr>
              <a:t>Camera</a:t>
            </a:r>
            <a:endParaRPr lang="en-US" sz="1200" dirty="0"/>
          </a:p>
        </p:txBody>
      </p:sp>
      <p:sp>
        <p:nvSpPr>
          <p:cNvPr id="18" name="Text 16"/>
          <p:cNvSpPr/>
          <p:nvPr/>
        </p:nvSpPr>
        <p:spPr>
          <a:xfrm>
            <a:off x="2157984" y="4014216"/>
            <a:ext cx="1261872" cy="164592"/>
          </a:xfrm>
          <a:prstGeom prst="rect">
            <a:avLst/>
          </a:prstGeom>
          <a:noFill/>
          <a:ln/>
        </p:spPr>
        <p:txBody>
          <a:bodyPr wrap="square" lIns="0" tIns="0" rIns="0" bIns="0" rtlCol="0" anchor="ctr"/>
          <a:lstStyle/>
          <a:p>
            <a:pPr algn="ctr" indent="0" marL="0">
              <a:buNone/>
            </a:pPr>
            <a:r>
              <a:rPr lang="en-US" sz="820" dirty="0">
                <a:solidFill>
                  <a:srgbClr val="64748B"/>
                </a:solidFill>
              </a:rPr>
              <a:t>frame</a:t>
            </a:r>
            <a:endParaRPr lang="en-US" sz="820" dirty="0"/>
          </a:p>
        </p:txBody>
      </p:sp>
      <p:sp>
        <p:nvSpPr>
          <p:cNvPr id="19" name="Shape 17"/>
          <p:cNvSpPr/>
          <p:nvPr/>
        </p:nvSpPr>
        <p:spPr>
          <a:xfrm>
            <a:off x="3721608" y="3246120"/>
            <a:ext cx="1261872" cy="658368"/>
          </a:xfrm>
          <a:prstGeom prst="roundRect">
            <a:avLst>
              <a:gd name="adj" fmla="val 9722"/>
            </a:avLst>
          </a:prstGeom>
          <a:solidFill>
            <a:srgbClr val="EAF4FA"/>
          </a:solidFill>
          <a:ln w="12700">
            <a:solidFill>
              <a:srgbClr val="2E6F9E"/>
            </a:solidFill>
            <a:prstDash val="solid"/>
          </a:ln>
        </p:spPr>
      </p:sp>
      <p:sp>
        <p:nvSpPr>
          <p:cNvPr id="20" name="Text 18"/>
          <p:cNvSpPr/>
          <p:nvPr/>
        </p:nvSpPr>
        <p:spPr>
          <a:xfrm>
            <a:off x="3785616" y="3310128"/>
            <a:ext cx="1133856" cy="530352"/>
          </a:xfrm>
          <a:prstGeom prst="rect">
            <a:avLst/>
          </a:prstGeom>
          <a:noFill/>
          <a:ln/>
        </p:spPr>
        <p:txBody>
          <a:bodyPr wrap="square" lIns="0" tIns="0" rIns="0" bIns="0" rtlCol="0" anchor="ctr">
            <a:normAutofit/>
          </a:bodyPr>
          <a:lstStyle/>
          <a:p>
            <a:pPr algn="ctr" indent="0" marL="0">
              <a:buNone/>
            </a:pPr>
            <a:r>
              <a:rPr lang="en-US" sz="1200" b="1" dirty="0">
                <a:solidFill>
                  <a:srgbClr val="1F2933"/>
                </a:solidFill>
              </a:rPr>
              <a:t>AI</a:t>
            </a:r>
            <a:endParaRPr lang="en-US" sz="1200" dirty="0"/>
          </a:p>
        </p:txBody>
      </p:sp>
      <p:sp>
        <p:nvSpPr>
          <p:cNvPr id="21" name="Text 19"/>
          <p:cNvSpPr/>
          <p:nvPr/>
        </p:nvSpPr>
        <p:spPr>
          <a:xfrm>
            <a:off x="3721608" y="4014216"/>
            <a:ext cx="1261872" cy="164592"/>
          </a:xfrm>
          <a:prstGeom prst="rect">
            <a:avLst/>
          </a:prstGeom>
          <a:noFill/>
          <a:ln/>
        </p:spPr>
        <p:txBody>
          <a:bodyPr wrap="square" lIns="0" tIns="0" rIns="0" bIns="0" rtlCol="0" anchor="ctr"/>
          <a:lstStyle/>
          <a:p>
            <a:pPr algn="ctr" indent="0" marL="0">
              <a:buNone/>
            </a:pPr>
            <a:r>
              <a:rPr lang="en-US" sz="820" dirty="0">
                <a:solidFill>
                  <a:srgbClr val="64748B"/>
                </a:solidFill>
              </a:rPr>
              <a:t>CPU-bound</a:t>
            </a:r>
            <a:endParaRPr lang="en-US" sz="820" dirty="0"/>
          </a:p>
        </p:txBody>
      </p:sp>
      <p:sp>
        <p:nvSpPr>
          <p:cNvPr id="22" name="Shape 20"/>
          <p:cNvSpPr/>
          <p:nvPr/>
        </p:nvSpPr>
        <p:spPr>
          <a:xfrm>
            <a:off x="5285232" y="3246120"/>
            <a:ext cx="1261872" cy="658368"/>
          </a:xfrm>
          <a:prstGeom prst="roundRect">
            <a:avLst>
              <a:gd name="adj" fmla="val 9722"/>
            </a:avLst>
          </a:prstGeom>
          <a:solidFill>
            <a:srgbClr val="FFFFFF"/>
          </a:solidFill>
          <a:ln w="12700">
            <a:solidFill>
              <a:srgbClr val="D5DDE5"/>
            </a:solidFill>
            <a:prstDash val="solid"/>
          </a:ln>
        </p:spPr>
      </p:sp>
      <p:sp>
        <p:nvSpPr>
          <p:cNvPr id="23" name="Text 21"/>
          <p:cNvSpPr/>
          <p:nvPr/>
        </p:nvSpPr>
        <p:spPr>
          <a:xfrm>
            <a:off x="5349240" y="3310128"/>
            <a:ext cx="1133856" cy="530352"/>
          </a:xfrm>
          <a:prstGeom prst="rect">
            <a:avLst/>
          </a:prstGeom>
          <a:noFill/>
          <a:ln/>
        </p:spPr>
        <p:txBody>
          <a:bodyPr wrap="square" lIns="0" tIns="0" rIns="0" bIns="0" rtlCol="0" anchor="ctr">
            <a:normAutofit/>
          </a:bodyPr>
          <a:lstStyle/>
          <a:p>
            <a:pPr algn="ctr" indent="0" marL="0">
              <a:buNone/>
            </a:pPr>
            <a:r>
              <a:rPr lang="en-US" sz="1200" b="1" dirty="0">
                <a:solidFill>
                  <a:srgbClr val="1F2933"/>
                </a:solidFill>
              </a:rPr>
              <a:t>Rule</a:t>
            </a:r>
            <a:endParaRPr lang="en-US" sz="1200" dirty="0"/>
          </a:p>
        </p:txBody>
      </p:sp>
      <p:sp>
        <p:nvSpPr>
          <p:cNvPr id="24" name="Text 22"/>
          <p:cNvSpPr/>
          <p:nvPr/>
        </p:nvSpPr>
        <p:spPr>
          <a:xfrm>
            <a:off x="5285232" y="4014216"/>
            <a:ext cx="1261872" cy="164592"/>
          </a:xfrm>
          <a:prstGeom prst="rect">
            <a:avLst/>
          </a:prstGeom>
          <a:noFill/>
          <a:ln/>
        </p:spPr>
        <p:txBody>
          <a:bodyPr wrap="square" lIns="0" tIns="0" rIns="0" bIns="0" rtlCol="0" anchor="ctr"/>
          <a:lstStyle/>
          <a:p>
            <a:pPr algn="ctr" indent="0" marL="0">
              <a:buNone/>
            </a:pPr>
            <a:r>
              <a:rPr lang="en-US" sz="820" dirty="0">
                <a:solidFill>
                  <a:srgbClr val="64748B"/>
                </a:solidFill>
              </a:rPr>
              <a:t>deterministic</a:t>
            </a:r>
            <a:endParaRPr lang="en-US" sz="820" dirty="0"/>
          </a:p>
        </p:txBody>
      </p:sp>
      <p:sp>
        <p:nvSpPr>
          <p:cNvPr id="25" name="Shape 23"/>
          <p:cNvSpPr/>
          <p:nvPr/>
        </p:nvSpPr>
        <p:spPr>
          <a:xfrm>
            <a:off x="6848856" y="3246120"/>
            <a:ext cx="1261872" cy="658368"/>
          </a:xfrm>
          <a:prstGeom prst="roundRect">
            <a:avLst>
              <a:gd name="adj" fmla="val 9722"/>
            </a:avLst>
          </a:prstGeom>
          <a:solidFill>
            <a:srgbClr val="FFFFFF"/>
          </a:solidFill>
          <a:ln w="12700">
            <a:solidFill>
              <a:srgbClr val="D5DDE5"/>
            </a:solidFill>
            <a:prstDash val="solid"/>
          </a:ln>
        </p:spPr>
      </p:sp>
      <p:sp>
        <p:nvSpPr>
          <p:cNvPr id="26" name="Text 24"/>
          <p:cNvSpPr/>
          <p:nvPr/>
        </p:nvSpPr>
        <p:spPr>
          <a:xfrm>
            <a:off x="6912864" y="3310128"/>
            <a:ext cx="1133856" cy="530352"/>
          </a:xfrm>
          <a:prstGeom prst="rect">
            <a:avLst/>
          </a:prstGeom>
          <a:noFill/>
          <a:ln/>
        </p:spPr>
        <p:txBody>
          <a:bodyPr wrap="square" lIns="0" tIns="0" rIns="0" bIns="0" rtlCol="0" anchor="ctr">
            <a:normAutofit/>
          </a:bodyPr>
          <a:lstStyle/>
          <a:p>
            <a:pPr algn="ctr" indent="0" marL="0">
              <a:buNone/>
            </a:pPr>
            <a:r>
              <a:rPr lang="en-US" sz="1200" b="1" dirty="0">
                <a:solidFill>
                  <a:srgbClr val="1F2933"/>
                </a:solidFill>
              </a:rPr>
              <a:t>Decision</a:t>
            </a:r>
            <a:endParaRPr lang="en-US" sz="1200" dirty="0"/>
          </a:p>
        </p:txBody>
      </p:sp>
      <p:sp>
        <p:nvSpPr>
          <p:cNvPr id="27" name="Text 25"/>
          <p:cNvSpPr/>
          <p:nvPr/>
        </p:nvSpPr>
        <p:spPr>
          <a:xfrm>
            <a:off x="6848856" y="4014216"/>
            <a:ext cx="1261872" cy="164592"/>
          </a:xfrm>
          <a:prstGeom prst="rect">
            <a:avLst/>
          </a:prstGeom>
          <a:noFill/>
          <a:ln/>
        </p:spPr>
        <p:txBody>
          <a:bodyPr wrap="square" lIns="0" tIns="0" rIns="0" bIns="0" rtlCol="0" anchor="ctr"/>
          <a:lstStyle/>
          <a:p>
            <a:pPr algn="ctr" indent="0" marL="0">
              <a:buNone/>
            </a:pPr>
            <a:r>
              <a:rPr lang="en-US" sz="820" dirty="0">
                <a:solidFill>
                  <a:srgbClr val="64748B"/>
                </a:solidFill>
              </a:rPr>
              <a:t>fusion</a:t>
            </a:r>
            <a:endParaRPr lang="en-US" sz="820" dirty="0"/>
          </a:p>
        </p:txBody>
      </p:sp>
      <p:sp>
        <p:nvSpPr>
          <p:cNvPr id="28" name="Shape 26"/>
          <p:cNvSpPr/>
          <p:nvPr/>
        </p:nvSpPr>
        <p:spPr>
          <a:xfrm>
            <a:off x="8412480" y="3246120"/>
            <a:ext cx="1261872" cy="658368"/>
          </a:xfrm>
          <a:prstGeom prst="roundRect">
            <a:avLst>
              <a:gd name="adj" fmla="val 9722"/>
            </a:avLst>
          </a:prstGeom>
          <a:solidFill>
            <a:srgbClr val="FFFFFF"/>
          </a:solidFill>
          <a:ln w="12700">
            <a:solidFill>
              <a:srgbClr val="D5DDE5"/>
            </a:solidFill>
            <a:prstDash val="solid"/>
          </a:ln>
        </p:spPr>
      </p:sp>
      <p:sp>
        <p:nvSpPr>
          <p:cNvPr id="29" name="Text 27"/>
          <p:cNvSpPr/>
          <p:nvPr/>
        </p:nvSpPr>
        <p:spPr>
          <a:xfrm>
            <a:off x="8476488" y="3310128"/>
            <a:ext cx="1133856" cy="530352"/>
          </a:xfrm>
          <a:prstGeom prst="rect">
            <a:avLst/>
          </a:prstGeom>
          <a:noFill/>
          <a:ln/>
        </p:spPr>
        <p:txBody>
          <a:bodyPr wrap="square" lIns="0" tIns="0" rIns="0" bIns="0" rtlCol="0" anchor="ctr">
            <a:normAutofit/>
          </a:bodyPr>
          <a:lstStyle/>
          <a:p>
            <a:pPr algn="ctr" indent="0" marL="0">
              <a:buNone/>
            </a:pPr>
            <a:r>
              <a:rPr lang="en-US" sz="1200" b="1" dirty="0">
                <a:solidFill>
                  <a:srgbClr val="1F2933"/>
                </a:solidFill>
              </a:rPr>
              <a:t>Actuator</a:t>
            </a:r>
            <a:endParaRPr lang="en-US" sz="1200" dirty="0"/>
          </a:p>
        </p:txBody>
      </p:sp>
      <p:sp>
        <p:nvSpPr>
          <p:cNvPr id="30" name="Text 28"/>
          <p:cNvSpPr/>
          <p:nvPr/>
        </p:nvSpPr>
        <p:spPr>
          <a:xfrm>
            <a:off x="8412480" y="4014216"/>
            <a:ext cx="1261872" cy="164592"/>
          </a:xfrm>
          <a:prstGeom prst="rect">
            <a:avLst/>
          </a:prstGeom>
          <a:noFill/>
          <a:ln/>
        </p:spPr>
        <p:txBody>
          <a:bodyPr wrap="square" lIns="0" tIns="0" rIns="0" bIns="0" rtlCol="0" anchor="ctr"/>
          <a:lstStyle/>
          <a:p>
            <a:pPr algn="ctr" indent="0" marL="0">
              <a:buNone/>
            </a:pPr>
            <a:r>
              <a:rPr lang="en-US" sz="820" dirty="0">
                <a:solidFill>
                  <a:srgbClr val="64748B"/>
                </a:solidFill>
              </a:rPr>
              <a:t>deadline</a:t>
            </a:r>
            <a:endParaRPr lang="en-US" sz="820" dirty="0"/>
          </a:p>
        </p:txBody>
      </p:sp>
      <p:sp>
        <p:nvSpPr>
          <p:cNvPr id="31" name="Shape 29"/>
          <p:cNvSpPr/>
          <p:nvPr/>
        </p:nvSpPr>
        <p:spPr>
          <a:xfrm>
            <a:off x="9976104" y="3246120"/>
            <a:ext cx="1261872" cy="658368"/>
          </a:xfrm>
          <a:prstGeom prst="roundRect">
            <a:avLst>
              <a:gd name="adj" fmla="val 9722"/>
            </a:avLst>
          </a:prstGeom>
          <a:solidFill>
            <a:srgbClr val="FFFFFF"/>
          </a:solidFill>
          <a:ln w="12700">
            <a:solidFill>
              <a:srgbClr val="D5DDE5"/>
            </a:solidFill>
            <a:prstDash val="solid"/>
          </a:ln>
        </p:spPr>
      </p:sp>
      <p:sp>
        <p:nvSpPr>
          <p:cNvPr id="32" name="Text 30"/>
          <p:cNvSpPr/>
          <p:nvPr/>
        </p:nvSpPr>
        <p:spPr>
          <a:xfrm>
            <a:off x="10040112" y="3310128"/>
            <a:ext cx="1133856" cy="530352"/>
          </a:xfrm>
          <a:prstGeom prst="rect">
            <a:avLst/>
          </a:prstGeom>
          <a:noFill/>
          <a:ln/>
        </p:spPr>
        <p:txBody>
          <a:bodyPr wrap="square" lIns="0" tIns="0" rIns="0" bIns="0" rtlCol="0" anchor="ctr">
            <a:normAutofit/>
          </a:bodyPr>
          <a:lstStyle/>
          <a:p>
            <a:pPr algn="ctr" indent="0" marL="0">
              <a:buNone/>
            </a:pPr>
            <a:r>
              <a:rPr lang="en-US" sz="1200" b="1" dirty="0">
                <a:solidFill>
                  <a:srgbClr val="1F2933"/>
                </a:solidFill>
              </a:rPr>
              <a:t>Logger</a:t>
            </a:r>
            <a:endParaRPr lang="en-US" sz="1200" dirty="0"/>
          </a:p>
        </p:txBody>
      </p:sp>
      <p:sp>
        <p:nvSpPr>
          <p:cNvPr id="33" name="Text 31"/>
          <p:cNvSpPr/>
          <p:nvPr/>
        </p:nvSpPr>
        <p:spPr>
          <a:xfrm>
            <a:off x="9976104" y="4014216"/>
            <a:ext cx="1261872" cy="164592"/>
          </a:xfrm>
          <a:prstGeom prst="rect">
            <a:avLst/>
          </a:prstGeom>
          <a:noFill/>
          <a:ln/>
        </p:spPr>
        <p:txBody>
          <a:bodyPr wrap="square" lIns="0" tIns="0" rIns="0" bIns="0" rtlCol="0" anchor="ctr"/>
          <a:lstStyle/>
          <a:p>
            <a:pPr algn="ctr" indent="0" marL="0">
              <a:buNone/>
            </a:pPr>
            <a:r>
              <a:rPr lang="en-US" sz="820" dirty="0">
                <a:solidFill>
                  <a:srgbClr val="64748B"/>
                </a:solidFill>
              </a:rPr>
              <a:t>I/O</a:t>
            </a:r>
            <a:endParaRPr lang="en-US" sz="820" dirty="0"/>
          </a:p>
        </p:txBody>
      </p:sp>
      <p:sp>
        <p:nvSpPr>
          <p:cNvPr id="34" name="Text 32"/>
          <p:cNvSpPr/>
          <p:nvPr/>
        </p:nvSpPr>
        <p:spPr>
          <a:xfrm>
            <a:off x="960120" y="5303520"/>
            <a:ext cx="10149840" cy="320040"/>
          </a:xfrm>
          <a:prstGeom prst="rect">
            <a:avLst/>
          </a:prstGeom>
          <a:noFill/>
          <a:ln/>
        </p:spPr>
        <p:txBody>
          <a:bodyPr wrap="square" lIns="254" tIns="254" rIns="254" bIns="254" rtlCol="0" anchor="t">
            <a:normAutofit/>
          </a:bodyPr>
          <a:lstStyle/>
          <a:p>
            <a:pPr indent="0" marL="0">
              <a:buNone/>
            </a:pPr>
            <a:r>
              <a:rPr lang="en-US" sz="1330" dirty="0">
                <a:solidFill>
                  <a:srgbClr val="1F2933"/>
                </a:solidFill>
              </a:rPr>
              <a:t>Shared resources: product_id, frame_id, inspection_result, actuator_command, log_entry.</a:t>
            </a:r>
            <a:endParaRPr lang="en-US" sz="1330" dirty="0"/>
          </a:p>
        </p:txBody>
      </p:sp>
      <p:sp>
        <p:nvSpPr>
          <p:cNvPr id="35" name="Shape 33"/>
          <p:cNvSpPr/>
          <p:nvPr/>
        </p:nvSpPr>
        <p:spPr>
          <a:xfrm>
            <a:off x="548640" y="6446520"/>
            <a:ext cx="11064240" cy="0"/>
          </a:xfrm>
          <a:prstGeom prst="line">
            <a:avLst/>
          </a:prstGeom>
          <a:noFill/>
          <a:ln w="10160">
            <a:solidFill>
              <a:srgbClr val="D5DDE5"/>
            </a:solidFill>
            <a:prstDash val="solid"/>
          </a:ln>
        </p:spPr>
      </p:sp>
      <p:sp>
        <p:nvSpPr>
          <p:cNvPr id="36" name="Text 34"/>
          <p:cNvSpPr/>
          <p:nvPr/>
        </p:nvSpPr>
        <p:spPr>
          <a:xfrm>
            <a:off x="548640" y="6547104"/>
            <a:ext cx="5029200" cy="164592"/>
          </a:xfrm>
          <a:prstGeom prst="rect">
            <a:avLst/>
          </a:prstGeom>
          <a:noFill/>
          <a:ln/>
        </p:spPr>
        <p:txBody>
          <a:bodyPr wrap="square" lIns="0" tIns="0" rIns="0" bIns="0" rtlCol="0" anchor="ctr"/>
          <a:lstStyle/>
          <a:p>
            <a:pPr indent="0" marL="0">
              <a:buNone/>
            </a:pPr>
            <a:r>
              <a:rPr lang="en-US" sz="750" dirty="0">
                <a:solidFill>
                  <a:srgbClr val="64748B"/>
                </a:solidFill>
              </a:rPr>
              <a:t>OS Reliability in AI-Assisted Lean Visual Inspection</a:t>
            </a:r>
            <a:endParaRPr lang="en-US" sz="750" dirty="0"/>
          </a:p>
        </p:txBody>
      </p:sp>
      <p:sp>
        <p:nvSpPr>
          <p:cNvPr id="37" name="Text 35"/>
          <p:cNvSpPr/>
          <p:nvPr/>
        </p:nvSpPr>
        <p:spPr>
          <a:xfrm>
            <a:off x="10789920" y="6547104"/>
            <a:ext cx="822960" cy="164592"/>
          </a:xfrm>
          <a:prstGeom prst="rect">
            <a:avLst/>
          </a:prstGeom>
          <a:noFill/>
          <a:ln/>
        </p:spPr>
        <p:txBody>
          <a:bodyPr wrap="square" lIns="0" tIns="0" rIns="0" bIns="0" rtlCol="0" anchor="ctr"/>
          <a:lstStyle/>
          <a:p>
            <a:pPr algn="r" indent="0" marL="0">
              <a:buNone/>
            </a:pPr>
            <a:r>
              <a:rPr lang="en-US" sz="750" dirty="0">
                <a:solidFill>
                  <a:srgbClr val="64748B"/>
                </a:solidFill>
              </a:rPr>
              <a:t>Slide 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548640" y="502920"/>
            <a:ext cx="11064240" cy="0"/>
          </a:xfrm>
          <a:prstGeom prst="line">
            <a:avLst/>
          </a:prstGeom>
          <a:noFill/>
          <a:ln w="12700">
            <a:solidFill>
              <a:srgbClr val="D5DDE5"/>
            </a:solidFill>
            <a:prstDash val="solid"/>
          </a:ln>
        </p:spPr>
      </p:sp>
      <p:sp>
        <p:nvSpPr>
          <p:cNvPr id="3" name="Text 1"/>
          <p:cNvSpPr/>
          <p:nvPr/>
        </p:nvSpPr>
        <p:spPr>
          <a:xfrm>
            <a:off x="685800" y="685800"/>
            <a:ext cx="4389120" cy="201168"/>
          </a:xfrm>
          <a:prstGeom prst="rect">
            <a:avLst/>
          </a:prstGeom>
          <a:noFill/>
          <a:ln/>
        </p:spPr>
        <p:txBody>
          <a:bodyPr wrap="square" lIns="0" tIns="0" rIns="0" bIns="0" rtlCol="0" anchor="ctr"/>
          <a:lstStyle/>
          <a:p>
            <a:pPr indent="0" marL="0">
              <a:buNone/>
            </a:pPr>
            <a:r>
              <a:rPr lang="en-US" sz="850" b="1" dirty="0">
                <a:solidFill>
                  <a:srgbClr val="64748B"/>
                </a:solidFill>
              </a:rPr>
              <a:t>RACE CONDITION</a:t>
            </a:r>
            <a:endParaRPr lang="en-US" sz="850" dirty="0"/>
          </a:p>
        </p:txBody>
      </p:sp>
      <p:sp>
        <p:nvSpPr>
          <p:cNvPr id="4" name="Text 2"/>
          <p:cNvSpPr/>
          <p:nvPr/>
        </p:nvSpPr>
        <p:spPr>
          <a:xfrm>
            <a:off x="685800" y="960120"/>
            <a:ext cx="10241280" cy="411480"/>
          </a:xfrm>
          <a:prstGeom prst="rect">
            <a:avLst/>
          </a:prstGeom>
          <a:noFill/>
          <a:ln/>
        </p:spPr>
        <p:txBody>
          <a:bodyPr wrap="square" lIns="0" tIns="0" rIns="0" bIns="0" rtlCol="0" anchor="ctr">
            <a:normAutofit/>
          </a:bodyP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Failure mode: wrong product–inspection mapping</a:t>
            </a:r>
            <a:endParaRPr lang="en-US" sz="2500" dirty="0"/>
          </a:p>
        </p:txBody>
      </p:sp>
      <p:sp>
        <p:nvSpPr>
          <p:cNvPr id="5" name="Text 3"/>
          <p:cNvSpPr/>
          <p:nvPr/>
        </p:nvSpPr>
        <p:spPr>
          <a:xfrm>
            <a:off x="704088" y="1490472"/>
            <a:ext cx="9875520" cy="292608"/>
          </a:xfrm>
          <a:prstGeom prst="rect">
            <a:avLst/>
          </a:prstGeom>
          <a:noFill/>
          <a:ln/>
        </p:spPr>
        <p:txBody>
          <a:bodyPr wrap="square" lIns="0" tIns="0" rIns="0" bIns="0" rtlCol="0" anchor="ctr">
            <a:normAutofit/>
          </a:bodyPr>
          <a:lstStyle/>
          <a:p>
            <a:pPr indent="0" marL="0">
              <a:buNone/>
            </a:pPr>
            <a:r>
              <a:rPr lang="en-US" sz="1150" dirty="0">
                <a:solidFill>
                  <a:srgbClr val="64748B"/>
                </a:solidFill>
              </a:rPr>
              <a:t>The race condition corrupts the identity chain, not just a counter.</a:t>
            </a:r>
            <a:endParaRPr lang="en-US" sz="1150" dirty="0"/>
          </a:p>
        </p:txBody>
      </p:sp>
      <p:sp>
        <p:nvSpPr>
          <p:cNvPr id="6" name="Shape 4"/>
          <p:cNvSpPr/>
          <p:nvPr/>
        </p:nvSpPr>
        <p:spPr>
          <a:xfrm>
            <a:off x="2331720" y="3063240"/>
            <a:ext cx="1874520" cy="0"/>
          </a:xfrm>
          <a:prstGeom prst="line">
            <a:avLst/>
          </a:prstGeom>
          <a:noFill/>
          <a:ln w="16510">
            <a:solidFill>
              <a:srgbClr val="D64545"/>
            </a:solidFill>
            <a:prstDash val="solid"/>
            <a:tailEnd type="triangle"/>
          </a:ln>
        </p:spPr>
      </p:sp>
      <p:sp>
        <p:nvSpPr>
          <p:cNvPr id="7" name="Shape 5"/>
          <p:cNvSpPr/>
          <p:nvPr/>
        </p:nvSpPr>
        <p:spPr>
          <a:xfrm>
            <a:off x="6629400" y="3063240"/>
            <a:ext cx="1920240" cy="0"/>
          </a:xfrm>
          <a:prstGeom prst="line">
            <a:avLst/>
          </a:prstGeom>
          <a:noFill/>
          <a:ln w="16510">
            <a:solidFill>
              <a:srgbClr val="D64545"/>
            </a:solidFill>
            <a:prstDash val="solid"/>
            <a:tailEnd type="triangle"/>
          </a:ln>
        </p:spPr>
      </p:sp>
      <p:sp>
        <p:nvSpPr>
          <p:cNvPr id="8" name="Shape 6"/>
          <p:cNvSpPr/>
          <p:nvPr/>
        </p:nvSpPr>
        <p:spPr>
          <a:xfrm>
            <a:off x="777240" y="2606040"/>
            <a:ext cx="1554480" cy="914400"/>
          </a:xfrm>
          <a:prstGeom prst="roundRect">
            <a:avLst>
              <a:gd name="adj" fmla="val 7000"/>
            </a:avLst>
          </a:prstGeom>
          <a:solidFill>
            <a:srgbClr val="FFFFFF"/>
          </a:solidFill>
          <a:ln w="12700">
            <a:solidFill>
              <a:srgbClr val="D5DDE5"/>
            </a:solidFill>
            <a:prstDash val="solid"/>
          </a:ln>
        </p:spPr>
      </p:sp>
      <p:sp>
        <p:nvSpPr>
          <p:cNvPr id="9" name="Text 7"/>
          <p:cNvSpPr/>
          <p:nvPr/>
        </p:nvSpPr>
        <p:spPr>
          <a:xfrm>
            <a:off x="841248" y="2670048"/>
            <a:ext cx="1426464" cy="786384"/>
          </a:xfrm>
          <a:prstGeom prst="rect">
            <a:avLst/>
          </a:prstGeom>
          <a:noFill/>
          <a:ln/>
        </p:spPr>
        <p:txBody>
          <a:bodyPr wrap="square" lIns="0" tIns="0" rIns="0" bIns="0" rtlCol="0" anchor="ctr">
            <a:normAutofit/>
          </a:bodyPr>
          <a:lstStyle/>
          <a:p>
            <a:pPr algn="ctr" indent="0" marL="0">
              <a:buNone/>
            </a:pPr>
            <a:r>
              <a:rPr lang="en-US" sz="1130" b="1" dirty="0">
                <a:solidFill>
                  <a:srgbClr val="1F2933"/>
                </a:solidFill>
              </a:rPr>
              <a:t>AI processing</a:t>
            </a:r>
            <a:endParaRPr lang="en-US" sz="1130" dirty="0"/>
          </a:p>
          <a:p>
            <a:pPr algn="ctr" indent="0" marL="0">
              <a:buNone/>
            </a:pPr>
            <a:r>
              <a:rPr lang="en-US" sz="1130" b="1" dirty="0">
                <a:solidFill>
                  <a:srgbClr val="1F2933"/>
                </a:solidFill>
              </a:rPr>
              <a:t>P017 image</a:t>
            </a:r>
            <a:endParaRPr lang="en-US" sz="1130" dirty="0"/>
          </a:p>
        </p:txBody>
      </p:sp>
      <p:sp>
        <p:nvSpPr>
          <p:cNvPr id="10" name="Shape 8"/>
          <p:cNvSpPr/>
          <p:nvPr/>
        </p:nvSpPr>
        <p:spPr>
          <a:xfrm>
            <a:off x="4069080" y="2606040"/>
            <a:ext cx="2240280" cy="914400"/>
          </a:xfrm>
          <a:prstGeom prst="roundRect">
            <a:avLst>
              <a:gd name="adj" fmla="val 7000"/>
            </a:avLst>
          </a:prstGeom>
          <a:solidFill>
            <a:srgbClr val="FFF3F3"/>
          </a:solidFill>
          <a:ln w="12700">
            <a:solidFill>
              <a:srgbClr val="D64545"/>
            </a:solidFill>
            <a:prstDash val="solid"/>
          </a:ln>
        </p:spPr>
      </p:sp>
      <p:sp>
        <p:nvSpPr>
          <p:cNvPr id="11" name="Text 9"/>
          <p:cNvSpPr/>
          <p:nvPr/>
        </p:nvSpPr>
        <p:spPr>
          <a:xfrm>
            <a:off x="4133088" y="2670048"/>
            <a:ext cx="2112264" cy="786384"/>
          </a:xfrm>
          <a:prstGeom prst="rect">
            <a:avLst/>
          </a:prstGeom>
          <a:noFill/>
          <a:ln/>
        </p:spPr>
        <p:txBody>
          <a:bodyPr wrap="square" lIns="0" tIns="0" rIns="0" bIns="0" rtlCol="0" anchor="ctr">
            <a:normAutofit/>
          </a:bodyPr>
          <a:lstStyle/>
          <a:p>
            <a:pPr algn="ctr" indent="0" marL="0">
              <a:buNone/>
            </a:pPr>
            <a:r>
              <a:rPr lang="en-US" sz="1080" b="1" dirty="0">
                <a:solidFill>
                  <a:srgbClr val="D64545"/>
                </a:solidFill>
              </a:rPr>
              <a:t>Sensor updates</a:t>
            </a:r>
            <a:endParaRPr lang="en-US" sz="1080" dirty="0"/>
          </a:p>
          <a:p>
            <a:pPr algn="ctr" indent="0" marL="0">
              <a:buNone/>
            </a:pPr>
            <a:r>
              <a:rPr lang="en-US" sz="1080" b="1" dirty="0">
                <a:solidFill>
                  <a:srgbClr val="D64545"/>
                </a:solidFill>
              </a:rPr>
              <a:t>current_product_id = P030</a:t>
            </a:r>
            <a:endParaRPr lang="en-US" sz="1080" dirty="0"/>
          </a:p>
        </p:txBody>
      </p:sp>
      <p:sp>
        <p:nvSpPr>
          <p:cNvPr id="12" name="Shape 10"/>
          <p:cNvSpPr/>
          <p:nvPr/>
        </p:nvSpPr>
        <p:spPr>
          <a:xfrm>
            <a:off x="8412480" y="2606040"/>
            <a:ext cx="2148840" cy="914400"/>
          </a:xfrm>
          <a:prstGeom prst="roundRect">
            <a:avLst>
              <a:gd name="adj" fmla="val 7000"/>
            </a:avLst>
          </a:prstGeom>
          <a:solidFill>
            <a:srgbClr val="FFF3F3"/>
          </a:solidFill>
          <a:ln w="12700">
            <a:solidFill>
              <a:srgbClr val="D64545"/>
            </a:solidFill>
            <a:prstDash val="solid"/>
          </a:ln>
        </p:spPr>
      </p:sp>
      <p:sp>
        <p:nvSpPr>
          <p:cNvPr id="13" name="Text 11"/>
          <p:cNvSpPr/>
          <p:nvPr/>
        </p:nvSpPr>
        <p:spPr>
          <a:xfrm>
            <a:off x="8476488" y="2670048"/>
            <a:ext cx="2020824" cy="786384"/>
          </a:xfrm>
          <a:prstGeom prst="rect">
            <a:avLst/>
          </a:prstGeom>
          <a:noFill/>
          <a:ln/>
        </p:spPr>
        <p:txBody>
          <a:bodyPr wrap="square" lIns="0" tIns="0" rIns="0" bIns="0" rtlCol="0" anchor="ctr">
            <a:normAutofit/>
          </a:bodyPr>
          <a:lstStyle/>
          <a:p>
            <a:pPr algn="ctr" indent="0" marL="0">
              <a:buNone/>
            </a:pPr>
            <a:r>
              <a:rPr lang="en-US" sz="1080" b="1" dirty="0">
                <a:solidFill>
                  <a:srgbClr val="D64545"/>
                </a:solidFill>
              </a:rPr>
              <a:t>Result for P017</a:t>
            </a:r>
            <a:endParaRPr lang="en-US" sz="1080" dirty="0"/>
          </a:p>
          <a:p>
            <a:pPr algn="ctr" indent="0" marL="0">
              <a:buNone/>
            </a:pPr>
            <a:r>
              <a:rPr lang="en-US" sz="1080" b="1" dirty="0">
                <a:solidFill>
                  <a:srgbClr val="D64545"/>
                </a:solidFill>
              </a:rPr>
              <a:t>stored under P030</a:t>
            </a:r>
            <a:endParaRPr lang="en-US" sz="1080" dirty="0"/>
          </a:p>
        </p:txBody>
      </p:sp>
      <p:sp>
        <p:nvSpPr>
          <p:cNvPr id="14" name="Text 12"/>
          <p:cNvSpPr/>
          <p:nvPr/>
        </p:nvSpPr>
        <p:spPr>
          <a:xfrm>
            <a:off x="914400" y="4343400"/>
            <a:ext cx="5166360" cy="841248"/>
          </a:xfrm>
          <a:prstGeom prst="rect">
            <a:avLst/>
          </a:prstGeom>
          <a:solidFill>
            <a:srgbClr val="F3F6F9"/>
          </a:solidFill>
          <a:ln w="12700">
            <a:solidFill>
              <a:srgbClr val="D5DDE5"/>
            </a:solidFill>
          </a:ln>
        </p:spPr>
        <p:txBody>
          <a:bodyPr wrap="square" lIns="1270" tIns="1270" rIns="1270" bIns="1270" rtlCol="0" anchor="ctr"/>
          <a:lstStyle/>
          <a:p>
            <a:pPr indent="0" marL="0">
              <a:buNone/>
            </a:pPr>
            <a:r>
              <a:rPr lang="en-US" sz="1020" dirty="0">
                <a:solidFill>
                  <a:srgbClr val="1F2933"/>
                </a:solidFill>
                <a:latin typeface="Aptos Mono" pitchFamily="34" charset="0"/>
                <a:ea typeface="Aptos Mono" pitchFamily="34" charset="-122"/>
                <a:cs typeface="Aptos Mono" pitchFamily="34" charset="-120"/>
              </a:rPr>
              <a:t>current_product_id = product.product_id</a:t>
            </a:r>
            <a:endParaRPr lang="en-US" sz="1020" dirty="0"/>
          </a:p>
          <a:p>
            <a:pPr indent="0" marL="0">
              <a:buNone/>
            </a:pPr>
            <a:r>
              <a:rPr lang="en-US" sz="1020" dirty="0">
                <a:solidFill>
                  <a:srgbClr val="1F2933"/>
                </a:solidFill>
                <a:latin typeface="Aptos Mono" pitchFamily="34" charset="0"/>
                <a:ea typeface="Aptos Mono" pitchFamily="34" charset="-122"/>
                <a:cs typeface="Aptos Mono" pitchFamily="34" charset="-120"/>
              </a:rPr>
              <a:t># AI task reads later</a:t>
            </a:r>
            <a:endParaRPr lang="en-US" sz="1020" dirty="0"/>
          </a:p>
          <a:p>
            <a:pPr indent="0" marL="0">
              <a:buNone/>
            </a:pPr>
            <a:r>
              <a:rPr lang="en-US" sz="1020" dirty="0">
                <a:solidFill>
                  <a:srgbClr val="1F2933"/>
                </a:solidFill>
                <a:latin typeface="Aptos Mono" pitchFamily="34" charset="0"/>
                <a:ea typeface="Aptos Mono" pitchFamily="34" charset="-122"/>
                <a:cs typeface="Aptos Mono" pitchFamily="34" charset="-120"/>
              </a:rPr>
              <a:t>mapped_product_id = current_product_id</a:t>
            </a:r>
            <a:endParaRPr lang="en-US" sz="1020" dirty="0"/>
          </a:p>
          <a:p>
            <a:pPr indent="0" marL="0">
              <a:buNone/>
            </a:pPr>
            <a:r>
              <a:rPr lang="en-US" sz="1020" dirty="0">
                <a:solidFill>
                  <a:srgbClr val="1F2933"/>
                </a:solidFill>
                <a:latin typeface="Aptos Mono" pitchFamily="34" charset="0"/>
                <a:ea typeface="Aptos Mono" pitchFamily="34" charset="-122"/>
                <a:cs typeface="Aptos Mono" pitchFamily="34" charset="-120"/>
              </a:rPr>
              <a:t>inspection_results[mapped_product_id] = ai_result</a:t>
            </a:r>
            <a:endParaRPr lang="en-US" sz="1020" dirty="0"/>
          </a:p>
        </p:txBody>
      </p:sp>
      <p:sp>
        <p:nvSpPr>
          <p:cNvPr id="15" name="Text 13"/>
          <p:cNvSpPr/>
          <p:nvPr/>
        </p:nvSpPr>
        <p:spPr>
          <a:xfrm>
            <a:off x="6446520" y="4443984"/>
            <a:ext cx="4617720" cy="640080"/>
          </a:xfrm>
          <a:prstGeom prst="rect">
            <a:avLst/>
          </a:prstGeom>
          <a:noFill/>
          <a:ln/>
        </p:spPr>
        <p:txBody>
          <a:bodyPr wrap="square" lIns="254" tIns="254" rIns="254" bIns="254" rtlCol="0" anchor="t">
            <a:normAutofit/>
          </a:bodyPr>
          <a:lstStyle/>
          <a:p>
            <a:pPr indent="0" marL="0">
              <a:buNone/>
            </a:pPr>
            <a:r>
              <a:rPr lang="en-US" sz="1370" dirty="0">
                <a:solidFill>
                  <a:srgbClr val="1F2933"/>
                </a:solidFill>
              </a:rPr>
              <a:t>Consequence: a defective product may pass or a good product may be rejected. The OS failure becomes a physical quality-control failure.</a:t>
            </a:r>
            <a:endParaRPr lang="en-US" sz="1370" dirty="0"/>
          </a:p>
        </p:txBody>
      </p:sp>
      <p:sp>
        <p:nvSpPr>
          <p:cNvPr id="16" name="Shape 14"/>
          <p:cNvSpPr/>
          <p:nvPr/>
        </p:nvSpPr>
        <p:spPr>
          <a:xfrm>
            <a:off x="548640" y="6446520"/>
            <a:ext cx="11064240" cy="0"/>
          </a:xfrm>
          <a:prstGeom prst="line">
            <a:avLst/>
          </a:prstGeom>
          <a:noFill/>
          <a:ln w="10160">
            <a:solidFill>
              <a:srgbClr val="D5DDE5"/>
            </a:solidFill>
            <a:prstDash val="solid"/>
          </a:ln>
        </p:spPr>
      </p:sp>
      <p:sp>
        <p:nvSpPr>
          <p:cNvPr id="17" name="Text 15"/>
          <p:cNvSpPr/>
          <p:nvPr/>
        </p:nvSpPr>
        <p:spPr>
          <a:xfrm>
            <a:off x="548640" y="6547104"/>
            <a:ext cx="5029200" cy="164592"/>
          </a:xfrm>
          <a:prstGeom prst="rect">
            <a:avLst/>
          </a:prstGeom>
          <a:noFill/>
          <a:ln/>
        </p:spPr>
        <p:txBody>
          <a:bodyPr wrap="square" lIns="0" tIns="0" rIns="0" bIns="0" rtlCol="0" anchor="ctr"/>
          <a:lstStyle/>
          <a:p>
            <a:pPr indent="0" marL="0">
              <a:buNone/>
            </a:pPr>
            <a:r>
              <a:rPr lang="en-US" sz="750" dirty="0">
                <a:solidFill>
                  <a:srgbClr val="64748B"/>
                </a:solidFill>
              </a:rPr>
              <a:t>OS Reliability in AI-Assisted Lean Visual Inspection</a:t>
            </a:r>
            <a:endParaRPr lang="en-US" sz="750" dirty="0"/>
          </a:p>
        </p:txBody>
      </p:sp>
      <p:sp>
        <p:nvSpPr>
          <p:cNvPr id="18" name="Text 16"/>
          <p:cNvSpPr/>
          <p:nvPr/>
        </p:nvSpPr>
        <p:spPr>
          <a:xfrm>
            <a:off x="10789920" y="6547104"/>
            <a:ext cx="822960" cy="164592"/>
          </a:xfrm>
          <a:prstGeom prst="rect">
            <a:avLst/>
          </a:prstGeom>
          <a:noFill/>
          <a:ln/>
        </p:spPr>
        <p:txBody>
          <a:bodyPr wrap="square" lIns="0" tIns="0" rIns="0" bIns="0" rtlCol="0" anchor="ctr"/>
          <a:lstStyle/>
          <a:p>
            <a:pPr algn="r" indent="0" marL="0">
              <a:buNone/>
            </a:pPr>
            <a:r>
              <a:rPr lang="en-US" sz="750" dirty="0">
                <a:solidFill>
                  <a:srgbClr val="64748B"/>
                </a:solidFill>
              </a:rPr>
              <a:t>Slide 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548640" y="502920"/>
            <a:ext cx="11064240" cy="0"/>
          </a:xfrm>
          <a:prstGeom prst="line">
            <a:avLst/>
          </a:prstGeom>
          <a:noFill/>
          <a:ln w="12700">
            <a:solidFill>
              <a:srgbClr val="D5DDE5"/>
            </a:solidFill>
            <a:prstDash val="solid"/>
          </a:ln>
        </p:spPr>
      </p:sp>
      <p:sp>
        <p:nvSpPr>
          <p:cNvPr id="3" name="Text 1"/>
          <p:cNvSpPr/>
          <p:nvPr/>
        </p:nvSpPr>
        <p:spPr>
          <a:xfrm>
            <a:off x="685800" y="685800"/>
            <a:ext cx="4389120" cy="201168"/>
          </a:xfrm>
          <a:prstGeom prst="rect">
            <a:avLst/>
          </a:prstGeom>
          <a:noFill/>
          <a:ln/>
        </p:spPr>
        <p:txBody>
          <a:bodyPr wrap="square" lIns="0" tIns="0" rIns="0" bIns="0" rtlCol="0" anchor="ctr"/>
          <a:lstStyle/>
          <a:p>
            <a:pPr indent="0" marL="0">
              <a:buNone/>
            </a:pPr>
            <a:r>
              <a:rPr lang="en-US" sz="850" b="1" dirty="0">
                <a:solidFill>
                  <a:srgbClr val="64748B"/>
                </a:solidFill>
              </a:rPr>
              <a:t>SYNCHRONIZATION</a:t>
            </a:r>
            <a:endParaRPr lang="en-US" sz="850" dirty="0"/>
          </a:p>
        </p:txBody>
      </p:sp>
      <p:sp>
        <p:nvSpPr>
          <p:cNvPr id="4" name="Text 2"/>
          <p:cNvSpPr/>
          <p:nvPr/>
        </p:nvSpPr>
        <p:spPr>
          <a:xfrm>
            <a:off x="685800" y="960120"/>
            <a:ext cx="10241280" cy="411480"/>
          </a:xfrm>
          <a:prstGeom prst="rect">
            <a:avLst/>
          </a:prstGeom>
          <a:noFill/>
          <a:ln/>
        </p:spPr>
        <p:txBody>
          <a:bodyPr wrap="square" lIns="0" tIns="0" rIns="0" bIns="0" rtlCol="0" anchor="ctr">
            <a:normAutofit/>
          </a:bodyP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Fix: ProductPacket + queue discipline</a:t>
            </a:r>
            <a:endParaRPr lang="en-US" sz="2500" dirty="0"/>
          </a:p>
        </p:txBody>
      </p:sp>
      <p:sp>
        <p:nvSpPr>
          <p:cNvPr id="5" name="Text 3"/>
          <p:cNvSpPr/>
          <p:nvPr/>
        </p:nvSpPr>
        <p:spPr>
          <a:xfrm>
            <a:off x="704088" y="1490472"/>
            <a:ext cx="9875520" cy="292608"/>
          </a:xfrm>
          <a:prstGeom prst="rect">
            <a:avLst/>
          </a:prstGeom>
          <a:noFill/>
          <a:ln/>
        </p:spPr>
        <p:txBody>
          <a:bodyPr wrap="square" lIns="0" tIns="0" rIns="0" bIns="0" rtlCol="0" anchor="ctr">
            <a:normAutofit/>
          </a:bodyPr>
          <a:lstStyle/>
          <a:p>
            <a:pPr indent="0" marL="0">
              <a:buNone/>
            </a:pPr>
            <a:r>
              <a:rPr lang="en-US" sz="1150" dirty="0">
                <a:solidFill>
                  <a:srgbClr val="64748B"/>
                </a:solidFill>
              </a:rPr>
              <a:t>Identity is preserved by design instead of relying on global mutable state.</a:t>
            </a:r>
            <a:endParaRPr lang="en-US" sz="1150" dirty="0"/>
          </a:p>
        </p:txBody>
      </p:sp>
      <p:sp>
        <p:nvSpPr>
          <p:cNvPr id="6" name="Text 4"/>
          <p:cNvSpPr/>
          <p:nvPr/>
        </p:nvSpPr>
        <p:spPr>
          <a:xfrm>
            <a:off x="731520" y="2011680"/>
            <a:ext cx="10424160" cy="438912"/>
          </a:xfrm>
          <a:prstGeom prst="rect">
            <a:avLst/>
          </a:prstGeom>
          <a:noFill/>
          <a:ln/>
        </p:spPr>
        <p:txBody>
          <a:bodyPr wrap="square" lIns="254" tIns="254" rIns="254" bIns="254" rtlCol="0" anchor="t">
            <a:normAutofit/>
          </a:bodyPr>
          <a:lstStyle/>
          <a:p>
            <a:pPr indent="0" marL="0">
              <a:buNone/>
            </a:pPr>
            <a:r>
              <a:rPr lang="en-US" sz="1380" dirty="0">
                <a:solidFill>
                  <a:srgbClr val="1F2933"/>
                </a:solidFill>
              </a:rPr>
              <a:t>Unsafe mode shares product identity globally. Safe mode gives each product an immutable packet and moves it through producer-consumer queues.</a:t>
            </a:r>
            <a:endParaRPr lang="en-US" sz="1380" dirty="0"/>
          </a:p>
        </p:txBody>
      </p:sp>
      <p:sp>
        <p:nvSpPr>
          <p:cNvPr id="7" name="Shape 5"/>
          <p:cNvSpPr/>
          <p:nvPr/>
        </p:nvSpPr>
        <p:spPr>
          <a:xfrm>
            <a:off x="1783080" y="3383280"/>
            <a:ext cx="1280160" cy="0"/>
          </a:xfrm>
          <a:prstGeom prst="line">
            <a:avLst/>
          </a:prstGeom>
          <a:noFill/>
          <a:ln w="16510">
            <a:solidFill>
              <a:srgbClr val="D64545"/>
            </a:solidFill>
            <a:prstDash val="solid"/>
            <a:tailEnd type="triangle"/>
          </a:ln>
        </p:spPr>
      </p:sp>
      <p:sp>
        <p:nvSpPr>
          <p:cNvPr id="8" name="Shape 6"/>
          <p:cNvSpPr/>
          <p:nvPr/>
        </p:nvSpPr>
        <p:spPr>
          <a:xfrm>
            <a:off x="4160520" y="3383280"/>
            <a:ext cx="1280160" cy="0"/>
          </a:xfrm>
          <a:prstGeom prst="line">
            <a:avLst/>
          </a:prstGeom>
          <a:noFill/>
          <a:ln w="16510">
            <a:solidFill>
              <a:srgbClr val="D64545"/>
            </a:solidFill>
            <a:prstDash val="solid"/>
            <a:tailEnd type="triangle"/>
          </a:ln>
        </p:spPr>
      </p:sp>
      <p:sp>
        <p:nvSpPr>
          <p:cNvPr id="9" name="Shape 7"/>
          <p:cNvSpPr/>
          <p:nvPr/>
        </p:nvSpPr>
        <p:spPr>
          <a:xfrm>
            <a:off x="777240" y="3063240"/>
            <a:ext cx="1005840" cy="594360"/>
          </a:xfrm>
          <a:prstGeom prst="roundRect">
            <a:avLst>
              <a:gd name="adj" fmla="val 10769"/>
            </a:avLst>
          </a:prstGeom>
          <a:solidFill>
            <a:srgbClr val="FFF3F3"/>
          </a:solidFill>
          <a:ln w="12700">
            <a:solidFill>
              <a:srgbClr val="D64545"/>
            </a:solidFill>
            <a:prstDash val="solid"/>
          </a:ln>
        </p:spPr>
      </p:sp>
      <p:sp>
        <p:nvSpPr>
          <p:cNvPr id="10" name="Text 8"/>
          <p:cNvSpPr/>
          <p:nvPr/>
        </p:nvSpPr>
        <p:spPr>
          <a:xfrm>
            <a:off x="841248" y="3127248"/>
            <a:ext cx="877824" cy="466344"/>
          </a:xfrm>
          <a:prstGeom prst="rect">
            <a:avLst/>
          </a:prstGeom>
          <a:noFill/>
          <a:ln/>
        </p:spPr>
        <p:txBody>
          <a:bodyPr wrap="square" lIns="0" tIns="0" rIns="0" bIns="0" rtlCol="0" anchor="ctr">
            <a:normAutofit/>
          </a:bodyPr>
          <a:lstStyle/>
          <a:p>
            <a:pPr algn="ctr" indent="0" marL="0">
              <a:buNone/>
            </a:pPr>
            <a:r>
              <a:rPr lang="en-US" sz="1130" b="1" dirty="0">
                <a:solidFill>
                  <a:srgbClr val="D64545"/>
                </a:solidFill>
              </a:rPr>
              <a:t>Sensor</a:t>
            </a:r>
            <a:endParaRPr lang="en-US" sz="1130" dirty="0"/>
          </a:p>
        </p:txBody>
      </p:sp>
      <p:sp>
        <p:nvSpPr>
          <p:cNvPr id="11" name="Shape 9"/>
          <p:cNvSpPr/>
          <p:nvPr/>
        </p:nvSpPr>
        <p:spPr>
          <a:xfrm>
            <a:off x="3063240" y="3063240"/>
            <a:ext cx="1097280" cy="594360"/>
          </a:xfrm>
          <a:prstGeom prst="roundRect">
            <a:avLst>
              <a:gd name="adj" fmla="val 10769"/>
            </a:avLst>
          </a:prstGeom>
          <a:solidFill>
            <a:srgbClr val="FFF3F3"/>
          </a:solidFill>
          <a:ln w="12700">
            <a:solidFill>
              <a:srgbClr val="D64545"/>
            </a:solidFill>
            <a:prstDash val="solid"/>
          </a:ln>
        </p:spPr>
      </p:sp>
      <p:sp>
        <p:nvSpPr>
          <p:cNvPr id="12" name="Text 10"/>
          <p:cNvSpPr/>
          <p:nvPr/>
        </p:nvSpPr>
        <p:spPr>
          <a:xfrm>
            <a:off x="3127248" y="3127248"/>
            <a:ext cx="969264" cy="466344"/>
          </a:xfrm>
          <a:prstGeom prst="rect">
            <a:avLst/>
          </a:prstGeom>
          <a:noFill/>
          <a:ln/>
        </p:spPr>
        <p:txBody>
          <a:bodyPr wrap="square" lIns="0" tIns="0" rIns="0" bIns="0" rtlCol="0" anchor="ctr">
            <a:normAutofit/>
          </a:bodyPr>
          <a:lstStyle/>
          <a:p>
            <a:pPr algn="ctr" indent="0" marL="0">
              <a:buNone/>
            </a:pPr>
            <a:r>
              <a:rPr lang="en-US" sz="1130" b="1" dirty="0">
                <a:solidFill>
                  <a:srgbClr val="D64545"/>
                </a:solidFill>
              </a:rPr>
              <a:t>Global ID</a:t>
            </a:r>
            <a:endParaRPr lang="en-US" sz="1130" dirty="0"/>
          </a:p>
        </p:txBody>
      </p:sp>
      <p:sp>
        <p:nvSpPr>
          <p:cNvPr id="13" name="Shape 11"/>
          <p:cNvSpPr/>
          <p:nvPr/>
        </p:nvSpPr>
        <p:spPr>
          <a:xfrm>
            <a:off x="5440680" y="3063240"/>
            <a:ext cx="1097280" cy="594360"/>
          </a:xfrm>
          <a:prstGeom prst="roundRect">
            <a:avLst>
              <a:gd name="adj" fmla="val 10769"/>
            </a:avLst>
          </a:prstGeom>
          <a:solidFill>
            <a:srgbClr val="FFF3F3"/>
          </a:solidFill>
          <a:ln w="12700">
            <a:solidFill>
              <a:srgbClr val="D64545"/>
            </a:solidFill>
            <a:prstDash val="solid"/>
          </a:ln>
        </p:spPr>
      </p:sp>
      <p:sp>
        <p:nvSpPr>
          <p:cNvPr id="14" name="Text 12"/>
          <p:cNvSpPr/>
          <p:nvPr/>
        </p:nvSpPr>
        <p:spPr>
          <a:xfrm>
            <a:off x="5504688" y="3127248"/>
            <a:ext cx="969264" cy="466344"/>
          </a:xfrm>
          <a:prstGeom prst="rect">
            <a:avLst/>
          </a:prstGeom>
          <a:noFill/>
          <a:ln/>
        </p:spPr>
        <p:txBody>
          <a:bodyPr wrap="square" lIns="0" tIns="0" rIns="0" bIns="0" rtlCol="0" anchor="ctr">
            <a:normAutofit/>
          </a:bodyPr>
          <a:lstStyle/>
          <a:p>
            <a:pPr algn="ctr" indent="0" marL="0">
              <a:buNone/>
            </a:pPr>
            <a:r>
              <a:rPr lang="en-US" sz="1130" b="1" dirty="0">
                <a:solidFill>
                  <a:srgbClr val="D64545"/>
                </a:solidFill>
              </a:rPr>
              <a:t>AI Result</a:t>
            </a:r>
            <a:endParaRPr lang="en-US" sz="1130" dirty="0"/>
          </a:p>
        </p:txBody>
      </p:sp>
      <p:sp>
        <p:nvSpPr>
          <p:cNvPr id="15" name="Text 13"/>
          <p:cNvSpPr/>
          <p:nvPr/>
        </p:nvSpPr>
        <p:spPr>
          <a:xfrm>
            <a:off x="6995160" y="3218688"/>
            <a:ext cx="3200400" cy="219456"/>
          </a:xfrm>
          <a:prstGeom prst="rect">
            <a:avLst/>
          </a:prstGeom>
          <a:noFill/>
          <a:ln/>
        </p:spPr>
        <p:txBody>
          <a:bodyPr wrap="square" lIns="0" tIns="0" rIns="0" bIns="0" rtlCol="0" anchor="ctr"/>
          <a:lstStyle/>
          <a:p>
            <a:pPr indent="0" marL="0">
              <a:buNone/>
            </a:pPr>
            <a:r>
              <a:rPr lang="en-US" sz="1280" b="1" dirty="0">
                <a:solidFill>
                  <a:srgbClr val="D64545"/>
                </a:solidFill>
              </a:rPr>
              <a:t>Unsafe: mutable shared identity</a:t>
            </a:r>
            <a:endParaRPr lang="en-US" sz="1280" dirty="0"/>
          </a:p>
        </p:txBody>
      </p:sp>
      <p:sp>
        <p:nvSpPr>
          <p:cNvPr id="16" name="Shape 14"/>
          <p:cNvSpPr/>
          <p:nvPr/>
        </p:nvSpPr>
        <p:spPr>
          <a:xfrm>
            <a:off x="1783080" y="4800600"/>
            <a:ext cx="1280160" cy="0"/>
          </a:xfrm>
          <a:prstGeom prst="line">
            <a:avLst/>
          </a:prstGeom>
          <a:noFill/>
          <a:ln w="16510">
            <a:solidFill>
              <a:srgbClr val="2E7D5B"/>
            </a:solidFill>
            <a:prstDash val="solid"/>
            <a:tailEnd type="triangle"/>
          </a:ln>
        </p:spPr>
      </p:sp>
      <p:sp>
        <p:nvSpPr>
          <p:cNvPr id="17" name="Shape 15"/>
          <p:cNvSpPr/>
          <p:nvPr/>
        </p:nvSpPr>
        <p:spPr>
          <a:xfrm>
            <a:off x="4160520" y="4800600"/>
            <a:ext cx="1280160" cy="0"/>
          </a:xfrm>
          <a:prstGeom prst="line">
            <a:avLst/>
          </a:prstGeom>
          <a:noFill/>
          <a:ln w="16510">
            <a:solidFill>
              <a:srgbClr val="2E7D5B"/>
            </a:solidFill>
            <a:prstDash val="solid"/>
            <a:tailEnd type="triangle"/>
          </a:ln>
        </p:spPr>
      </p:sp>
      <p:sp>
        <p:nvSpPr>
          <p:cNvPr id="18" name="Shape 16"/>
          <p:cNvSpPr/>
          <p:nvPr/>
        </p:nvSpPr>
        <p:spPr>
          <a:xfrm>
            <a:off x="6537960" y="4800600"/>
            <a:ext cx="1280160" cy="0"/>
          </a:xfrm>
          <a:prstGeom prst="line">
            <a:avLst/>
          </a:prstGeom>
          <a:noFill/>
          <a:ln w="16510">
            <a:solidFill>
              <a:srgbClr val="2E7D5B"/>
            </a:solidFill>
            <a:prstDash val="solid"/>
            <a:tailEnd type="triangle"/>
          </a:ln>
        </p:spPr>
      </p:sp>
      <p:sp>
        <p:nvSpPr>
          <p:cNvPr id="19" name="Shape 17"/>
          <p:cNvSpPr/>
          <p:nvPr/>
        </p:nvSpPr>
        <p:spPr>
          <a:xfrm>
            <a:off x="777240" y="4480560"/>
            <a:ext cx="1005840" cy="594360"/>
          </a:xfrm>
          <a:prstGeom prst="roundRect">
            <a:avLst>
              <a:gd name="adj" fmla="val 10769"/>
            </a:avLst>
          </a:prstGeom>
          <a:solidFill>
            <a:srgbClr val="EFFAF4"/>
          </a:solidFill>
          <a:ln w="12700">
            <a:solidFill>
              <a:srgbClr val="2E7D5B"/>
            </a:solidFill>
            <a:prstDash val="solid"/>
          </a:ln>
        </p:spPr>
      </p:sp>
      <p:sp>
        <p:nvSpPr>
          <p:cNvPr id="20" name="Text 18"/>
          <p:cNvSpPr/>
          <p:nvPr/>
        </p:nvSpPr>
        <p:spPr>
          <a:xfrm>
            <a:off x="841248" y="4544568"/>
            <a:ext cx="877824" cy="466344"/>
          </a:xfrm>
          <a:prstGeom prst="rect">
            <a:avLst/>
          </a:prstGeom>
          <a:noFill/>
          <a:ln/>
        </p:spPr>
        <p:txBody>
          <a:bodyPr wrap="square" lIns="0" tIns="0" rIns="0" bIns="0" rtlCol="0" anchor="ctr">
            <a:normAutofit/>
          </a:bodyPr>
          <a:lstStyle/>
          <a:p>
            <a:pPr algn="ctr" indent="0" marL="0">
              <a:buNone/>
            </a:pPr>
            <a:r>
              <a:rPr lang="en-US" sz="1130" b="1" dirty="0">
                <a:solidFill>
                  <a:srgbClr val="2E7D5B"/>
                </a:solidFill>
              </a:rPr>
              <a:t>Packet</a:t>
            </a:r>
            <a:endParaRPr lang="en-US" sz="1130" dirty="0"/>
          </a:p>
        </p:txBody>
      </p:sp>
      <p:sp>
        <p:nvSpPr>
          <p:cNvPr id="21" name="Shape 19"/>
          <p:cNvSpPr/>
          <p:nvPr/>
        </p:nvSpPr>
        <p:spPr>
          <a:xfrm>
            <a:off x="3063240" y="4480560"/>
            <a:ext cx="1097280" cy="594360"/>
          </a:xfrm>
          <a:prstGeom prst="roundRect">
            <a:avLst>
              <a:gd name="adj" fmla="val 10769"/>
            </a:avLst>
          </a:prstGeom>
          <a:solidFill>
            <a:srgbClr val="EFFAF4"/>
          </a:solidFill>
          <a:ln w="12700">
            <a:solidFill>
              <a:srgbClr val="2E7D5B"/>
            </a:solidFill>
            <a:prstDash val="solid"/>
          </a:ln>
        </p:spPr>
      </p:sp>
      <p:sp>
        <p:nvSpPr>
          <p:cNvPr id="22" name="Text 20"/>
          <p:cNvSpPr/>
          <p:nvPr/>
        </p:nvSpPr>
        <p:spPr>
          <a:xfrm>
            <a:off x="3127248" y="4544568"/>
            <a:ext cx="969264" cy="466344"/>
          </a:xfrm>
          <a:prstGeom prst="rect">
            <a:avLst/>
          </a:prstGeom>
          <a:noFill/>
          <a:ln/>
        </p:spPr>
        <p:txBody>
          <a:bodyPr wrap="square" lIns="0" tIns="0" rIns="0" bIns="0" rtlCol="0" anchor="ctr">
            <a:normAutofit/>
          </a:bodyPr>
          <a:lstStyle/>
          <a:p>
            <a:pPr algn="ctr" indent="0" marL="0">
              <a:buNone/>
            </a:pPr>
            <a:r>
              <a:rPr lang="en-US" sz="1130" b="1" dirty="0">
                <a:solidFill>
                  <a:srgbClr val="2E7D5B"/>
                </a:solidFill>
              </a:rPr>
              <a:t>Camera Q</a:t>
            </a:r>
            <a:endParaRPr lang="en-US" sz="1130" dirty="0"/>
          </a:p>
        </p:txBody>
      </p:sp>
      <p:sp>
        <p:nvSpPr>
          <p:cNvPr id="23" name="Shape 21"/>
          <p:cNvSpPr/>
          <p:nvPr/>
        </p:nvSpPr>
        <p:spPr>
          <a:xfrm>
            <a:off x="5440680" y="4480560"/>
            <a:ext cx="1097280" cy="594360"/>
          </a:xfrm>
          <a:prstGeom prst="roundRect">
            <a:avLst>
              <a:gd name="adj" fmla="val 10769"/>
            </a:avLst>
          </a:prstGeom>
          <a:solidFill>
            <a:srgbClr val="EFFAF4"/>
          </a:solidFill>
          <a:ln w="12700">
            <a:solidFill>
              <a:srgbClr val="2E7D5B"/>
            </a:solidFill>
            <a:prstDash val="solid"/>
          </a:ln>
        </p:spPr>
      </p:sp>
      <p:sp>
        <p:nvSpPr>
          <p:cNvPr id="24" name="Text 22"/>
          <p:cNvSpPr/>
          <p:nvPr/>
        </p:nvSpPr>
        <p:spPr>
          <a:xfrm>
            <a:off x="5504688" y="4544568"/>
            <a:ext cx="969264" cy="466344"/>
          </a:xfrm>
          <a:prstGeom prst="rect">
            <a:avLst/>
          </a:prstGeom>
          <a:noFill/>
          <a:ln/>
        </p:spPr>
        <p:txBody>
          <a:bodyPr wrap="square" lIns="0" tIns="0" rIns="0" bIns="0" rtlCol="0" anchor="ctr">
            <a:normAutofit/>
          </a:bodyPr>
          <a:lstStyle/>
          <a:p>
            <a:pPr algn="ctr" indent="0" marL="0">
              <a:buNone/>
            </a:pPr>
            <a:r>
              <a:rPr lang="en-US" sz="1130" b="1" dirty="0">
                <a:solidFill>
                  <a:srgbClr val="2E7D5B"/>
                </a:solidFill>
              </a:rPr>
              <a:t>Inspect Q</a:t>
            </a:r>
            <a:endParaRPr lang="en-US" sz="1130" dirty="0"/>
          </a:p>
        </p:txBody>
      </p:sp>
      <p:sp>
        <p:nvSpPr>
          <p:cNvPr id="25" name="Shape 23"/>
          <p:cNvSpPr/>
          <p:nvPr/>
        </p:nvSpPr>
        <p:spPr>
          <a:xfrm>
            <a:off x="7818120" y="4480560"/>
            <a:ext cx="1097280" cy="594360"/>
          </a:xfrm>
          <a:prstGeom prst="roundRect">
            <a:avLst>
              <a:gd name="adj" fmla="val 10769"/>
            </a:avLst>
          </a:prstGeom>
          <a:solidFill>
            <a:srgbClr val="EFFAF4"/>
          </a:solidFill>
          <a:ln w="12700">
            <a:solidFill>
              <a:srgbClr val="2E7D5B"/>
            </a:solidFill>
            <a:prstDash val="solid"/>
          </a:ln>
        </p:spPr>
      </p:sp>
      <p:sp>
        <p:nvSpPr>
          <p:cNvPr id="26" name="Text 24"/>
          <p:cNvSpPr/>
          <p:nvPr/>
        </p:nvSpPr>
        <p:spPr>
          <a:xfrm>
            <a:off x="7882128" y="4544568"/>
            <a:ext cx="969264" cy="466344"/>
          </a:xfrm>
          <a:prstGeom prst="rect">
            <a:avLst/>
          </a:prstGeom>
          <a:noFill/>
          <a:ln/>
        </p:spPr>
        <p:txBody>
          <a:bodyPr wrap="square" lIns="0" tIns="0" rIns="0" bIns="0" rtlCol="0" anchor="ctr">
            <a:normAutofit/>
          </a:bodyPr>
          <a:lstStyle/>
          <a:p>
            <a:pPr algn="ctr" indent="0" marL="0">
              <a:buNone/>
            </a:pPr>
            <a:r>
              <a:rPr lang="en-US" sz="1130" b="1" dirty="0">
                <a:solidFill>
                  <a:srgbClr val="2E7D5B"/>
                </a:solidFill>
              </a:rPr>
              <a:t>Actuator</a:t>
            </a:r>
            <a:endParaRPr lang="en-US" sz="1130" dirty="0"/>
          </a:p>
        </p:txBody>
      </p:sp>
      <p:sp>
        <p:nvSpPr>
          <p:cNvPr id="27" name="Text 25"/>
          <p:cNvSpPr/>
          <p:nvPr/>
        </p:nvSpPr>
        <p:spPr>
          <a:xfrm>
            <a:off x="9144000" y="4626864"/>
            <a:ext cx="2194560" cy="292608"/>
          </a:xfrm>
          <a:prstGeom prst="rect">
            <a:avLst/>
          </a:prstGeom>
          <a:noFill/>
          <a:ln/>
        </p:spPr>
        <p:txBody>
          <a:bodyPr wrap="square" lIns="0" tIns="0" rIns="0" bIns="0" rtlCol="0" anchor="ctr">
            <a:normAutofit/>
          </a:bodyPr>
          <a:lstStyle/>
          <a:p>
            <a:pPr indent="0" marL="0">
              <a:buNone/>
            </a:pPr>
            <a:r>
              <a:rPr lang="en-US" sz="1180" b="1" dirty="0">
                <a:solidFill>
                  <a:srgbClr val="2E7D5B"/>
                </a:solidFill>
              </a:rPr>
              <a:t>Safe: product identity travels with the packet</a:t>
            </a:r>
            <a:endParaRPr lang="en-US" sz="1180" dirty="0"/>
          </a:p>
        </p:txBody>
      </p:sp>
      <p:sp>
        <p:nvSpPr>
          <p:cNvPr id="28" name="Shape 26"/>
          <p:cNvSpPr/>
          <p:nvPr/>
        </p:nvSpPr>
        <p:spPr>
          <a:xfrm>
            <a:off x="548640" y="6446520"/>
            <a:ext cx="11064240" cy="0"/>
          </a:xfrm>
          <a:prstGeom prst="line">
            <a:avLst/>
          </a:prstGeom>
          <a:noFill/>
          <a:ln w="10160">
            <a:solidFill>
              <a:srgbClr val="D5DDE5"/>
            </a:solidFill>
            <a:prstDash val="solid"/>
          </a:ln>
        </p:spPr>
      </p:sp>
      <p:sp>
        <p:nvSpPr>
          <p:cNvPr id="29" name="Text 27"/>
          <p:cNvSpPr/>
          <p:nvPr/>
        </p:nvSpPr>
        <p:spPr>
          <a:xfrm>
            <a:off x="548640" y="6547104"/>
            <a:ext cx="5029200" cy="164592"/>
          </a:xfrm>
          <a:prstGeom prst="rect">
            <a:avLst/>
          </a:prstGeom>
          <a:noFill/>
          <a:ln/>
        </p:spPr>
        <p:txBody>
          <a:bodyPr wrap="square" lIns="0" tIns="0" rIns="0" bIns="0" rtlCol="0" anchor="ctr"/>
          <a:lstStyle/>
          <a:p>
            <a:pPr indent="0" marL="0">
              <a:buNone/>
            </a:pPr>
            <a:r>
              <a:rPr lang="en-US" sz="750" dirty="0">
                <a:solidFill>
                  <a:srgbClr val="64748B"/>
                </a:solidFill>
              </a:rPr>
              <a:t>OS Reliability in AI-Assisted Lean Visual Inspection</a:t>
            </a:r>
            <a:endParaRPr lang="en-US" sz="750" dirty="0"/>
          </a:p>
        </p:txBody>
      </p:sp>
      <p:sp>
        <p:nvSpPr>
          <p:cNvPr id="30" name="Text 28"/>
          <p:cNvSpPr/>
          <p:nvPr/>
        </p:nvSpPr>
        <p:spPr>
          <a:xfrm>
            <a:off x="10789920" y="6547104"/>
            <a:ext cx="822960" cy="164592"/>
          </a:xfrm>
          <a:prstGeom prst="rect">
            <a:avLst/>
          </a:prstGeom>
          <a:noFill/>
          <a:ln/>
        </p:spPr>
        <p:txBody>
          <a:bodyPr wrap="square" lIns="0" tIns="0" rIns="0" bIns="0" rtlCol="0" anchor="ctr"/>
          <a:lstStyle/>
          <a:p>
            <a:pPr algn="r" indent="0" marL="0">
              <a:buNone/>
            </a:pPr>
            <a:r>
              <a:rPr lang="en-US" sz="750" dirty="0">
                <a:solidFill>
                  <a:srgbClr val="64748B"/>
                </a:solidFill>
              </a:rPr>
              <a:t>Slide 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548640" y="502920"/>
            <a:ext cx="11064240" cy="0"/>
          </a:xfrm>
          <a:prstGeom prst="line">
            <a:avLst/>
          </a:prstGeom>
          <a:noFill/>
          <a:ln w="12700">
            <a:solidFill>
              <a:srgbClr val="D5DDE5"/>
            </a:solidFill>
            <a:prstDash val="solid"/>
          </a:ln>
        </p:spPr>
      </p:sp>
      <p:sp>
        <p:nvSpPr>
          <p:cNvPr id="3" name="Text 1"/>
          <p:cNvSpPr/>
          <p:nvPr/>
        </p:nvSpPr>
        <p:spPr>
          <a:xfrm>
            <a:off x="685800" y="685800"/>
            <a:ext cx="4389120" cy="201168"/>
          </a:xfrm>
          <a:prstGeom prst="rect">
            <a:avLst/>
          </a:prstGeom>
          <a:noFill/>
          <a:ln/>
        </p:spPr>
        <p:txBody>
          <a:bodyPr wrap="square" lIns="0" tIns="0" rIns="0" bIns="0" rtlCol="0" anchor="ctr"/>
          <a:lstStyle/>
          <a:p>
            <a:pPr indent="0" marL="0">
              <a:buNone/>
            </a:pPr>
            <a:r>
              <a:rPr lang="en-US" sz="850" b="1" dirty="0">
                <a:solidFill>
                  <a:srgbClr val="64748B"/>
                </a:solidFill>
              </a:rPr>
              <a:t>SCHEDULING</a:t>
            </a:r>
            <a:endParaRPr lang="en-US" sz="850" dirty="0"/>
          </a:p>
        </p:txBody>
      </p:sp>
      <p:sp>
        <p:nvSpPr>
          <p:cNvPr id="4" name="Text 2"/>
          <p:cNvSpPr/>
          <p:nvPr/>
        </p:nvSpPr>
        <p:spPr>
          <a:xfrm>
            <a:off x="685800" y="960120"/>
            <a:ext cx="10241280" cy="411480"/>
          </a:xfrm>
          <a:prstGeom prst="rect">
            <a:avLst/>
          </a:prstGeom>
          <a:noFill/>
          <a:ln/>
        </p:spPr>
        <p:txBody>
          <a:bodyPr wrap="square" lIns="0" tIns="0" rIns="0" bIns="0" rtlCol="0" anchor="ctr">
            <a:normAutofit/>
          </a:bodyP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The conveyor turns scheduling into deadlines</a:t>
            </a:r>
            <a:endParaRPr lang="en-US" sz="2500" dirty="0"/>
          </a:p>
        </p:txBody>
      </p:sp>
      <p:sp>
        <p:nvSpPr>
          <p:cNvPr id="5" name="Text 3"/>
          <p:cNvSpPr/>
          <p:nvPr/>
        </p:nvSpPr>
        <p:spPr>
          <a:xfrm>
            <a:off x="704088" y="1490472"/>
            <a:ext cx="9875520" cy="292608"/>
          </a:xfrm>
          <a:prstGeom prst="rect">
            <a:avLst/>
          </a:prstGeom>
          <a:noFill/>
          <a:ln/>
        </p:spPr>
        <p:txBody>
          <a:bodyPr wrap="square" lIns="0" tIns="0" rIns="0" bIns="0" rtlCol="0" anchor="ctr">
            <a:normAutofit/>
          </a:bodyPr>
          <a:lstStyle/>
          <a:p>
            <a:pPr indent="0" marL="0">
              <a:buNone/>
            </a:pPr>
            <a:r>
              <a:rPr lang="en-US" sz="1150" dirty="0">
                <a:solidFill>
                  <a:srgbClr val="64748B"/>
                </a:solidFill>
              </a:rPr>
              <a:t>Late tasks can miss the physical rejection window.</a:t>
            </a:r>
            <a:endParaRPr lang="en-US" sz="1150" dirty="0"/>
          </a:p>
        </p:txBody>
      </p:sp>
      <p:sp>
        <p:nvSpPr>
          <p:cNvPr id="6" name="Text 4"/>
          <p:cNvSpPr/>
          <p:nvPr/>
        </p:nvSpPr>
        <p:spPr>
          <a:xfrm>
            <a:off x="731520" y="1965960"/>
            <a:ext cx="10424160" cy="411480"/>
          </a:xfrm>
          <a:prstGeom prst="rect">
            <a:avLst/>
          </a:prstGeom>
          <a:noFill/>
          <a:ln/>
        </p:spPr>
        <p:txBody>
          <a:bodyPr wrap="square" lIns="254" tIns="254" rIns="254" bIns="254" rtlCol="0" anchor="t">
            <a:normAutofit/>
          </a:bodyPr>
          <a:lstStyle/>
          <a:p>
            <a:pPr indent="0" marL="0">
              <a:buNone/>
            </a:pPr>
            <a:r>
              <a:rPr lang="en-US" sz="1380" dirty="0">
                <a:solidFill>
                  <a:srgbClr val="1F2933"/>
                </a:solidFill>
              </a:rPr>
              <a:t>Each product creates jobs with arrival time, burst time, and absolute deadline. The actuator decision must complete before the product passes the reject gate.</a:t>
            </a:r>
            <a:endParaRPr lang="en-US" sz="1380" dirty="0"/>
          </a:p>
        </p:txBody>
      </p:sp>
      <p:sp>
        <p:nvSpPr>
          <p:cNvPr id="7" name="Shape 5"/>
          <p:cNvSpPr/>
          <p:nvPr/>
        </p:nvSpPr>
        <p:spPr>
          <a:xfrm>
            <a:off x="1005840" y="3657600"/>
            <a:ext cx="10058400" cy="0"/>
          </a:xfrm>
          <a:prstGeom prst="line">
            <a:avLst/>
          </a:prstGeom>
          <a:noFill/>
          <a:ln w="25400">
            <a:solidFill>
              <a:srgbClr val="334155"/>
            </a:solidFill>
            <a:prstDash val="solid"/>
          </a:ln>
        </p:spPr>
      </p:sp>
      <p:sp>
        <p:nvSpPr>
          <p:cNvPr id="8" name="Shape 6"/>
          <p:cNvSpPr/>
          <p:nvPr/>
        </p:nvSpPr>
        <p:spPr>
          <a:xfrm>
            <a:off x="1005840" y="3520440"/>
            <a:ext cx="0" cy="274320"/>
          </a:xfrm>
          <a:prstGeom prst="line">
            <a:avLst/>
          </a:prstGeom>
          <a:noFill/>
          <a:ln w="17780">
            <a:solidFill>
              <a:srgbClr val="2E6F9E"/>
            </a:solidFill>
            <a:prstDash val="solid"/>
          </a:ln>
        </p:spPr>
      </p:sp>
      <p:sp>
        <p:nvSpPr>
          <p:cNvPr id="9" name="Text 7"/>
          <p:cNvSpPr/>
          <p:nvPr/>
        </p:nvSpPr>
        <p:spPr>
          <a:xfrm>
            <a:off x="594360" y="3136392"/>
            <a:ext cx="822960" cy="164592"/>
          </a:xfrm>
          <a:prstGeom prst="rect">
            <a:avLst/>
          </a:prstGeom>
          <a:noFill/>
          <a:ln/>
        </p:spPr>
        <p:txBody>
          <a:bodyPr wrap="square" lIns="0" tIns="0" rIns="0" bIns="0" rtlCol="0" anchor="ctr"/>
          <a:lstStyle/>
          <a:p>
            <a:pPr algn="ctr" indent="0" marL="0">
              <a:buNone/>
            </a:pPr>
            <a:r>
              <a:rPr lang="en-US" sz="850" b="1" dirty="0">
                <a:solidFill>
                  <a:srgbClr val="2E6F9E"/>
                </a:solidFill>
              </a:rPr>
              <a:t>t0</a:t>
            </a:r>
            <a:endParaRPr lang="en-US" sz="850" dirty="0"/>
          </a:p>
        </p:txBody>
      </p:sp>
      <p:sp>
        <p:nvSpPr>
          <p:cNvPr id="10" name="Text 8"/>
          <p:cNvSpPr/>
          <p:nvPr/>
        </p:nvSpPr>
        <p:spPr>
          <a:xfrm>
            <a:off x="548640" y="3913632"/>
            <a:ext cx="914400" cy="164592"/>
          </a:xfrm>
          <a:prstGeom prst="rect">
            <a:avLst/>
          </a:prstGeom>
          <a:noFill/>
          <a:ln/>
        </p:spPr>
        <p:txBody>
          <a:bodyPr wrap="square" lIns="0" tIns="0" rIns="0" bIns="0" rtlCol="0" anchor="ctr"/>
          <a:lstStyle/>
          <a:p>
            <a:pPr algn="ctr" indent="0" marL="0">
              <a:buNone/>
            </a:pPr>
            <a:r>
              <a:rPr lang="en-US" sz="820" dirty="0">
                <a:solidFill>
                  <a:srgbClr val="64748B"/>
                </a:solidFill>
              </a:rPr>
              <a:t>arrival</a:t>
            </a:r>
            <a:endParaRPr lang="en-US" sz="820" dirty="0"/>
          </a:p>
        </p:txBody>
      </p:sp>
      <p:sp>
        <p:nvSpPr>
          <p:cNvPr id="11" name="Shape 9"/>
          <p:cNvSpPr/>
          <p:nvPr/>
        </p:nvSpPr>
        <p:spPr>
          <a:xfrm>
            <a:off x="3017520" y="3520440"/>
            <a:ext cx="0" cy="274320"/>
          </a:xfrm>
          <a:prstGeom prst="line">
            <a:avLst/>
          </a:prstGeom>
          <a:noFill/>
          <a:ln w="17780">
            <a:solidFill>
              <a:srgbClr val="2E6F9E"/>
            </a:solidFill>
            <a:prstDash val="solid"/>
          </a:ln>
        </p:spPr>
      </p:sp>
      <p:sp>
        <p:nvSpPr>
          <p:cNvPr id="12" name="Text 10"/>
          <p:cNvSpPr/>
          <p:nvPr/>
        </p:nvSpPr>
        <p:spPr>
          <a:xfrm>
            <a:off x="2606040" y="3136392"/>
            <a:ext cx="822960" cy="164592"/>
          </a:xfrm>
          <a:prstGeom prst="rect">
            <a:avLst/>
          </a:prstGeom>
          <a:noFill/>
          <a:ln/>
        </p:spPr>
        <p:txBody>
          <a:bodyPr wrap="square" lIns="0" tIns="0" rIns="0" bIns="0" rtlCol="0" anchor="ctr"/>
          <a:lstStyle/>
          <a:p>
            <a:pPr algn="ctr" indent="0" marL="0">
              <a:buNone/>
            </a:pPr>
            <a:r>
              <a:rPr lang="en-US" sz="850" b="1" dirty="0">
                <a:solidFill>
                  <a:srgbClr val="2E6F9E"/>
                </a:solidFill>
              </a:rPr>
              <a:t>t+25</a:t>
            </a:r>
            <a:endParaRPr lang="en-US" sz="850" dirty="0"/>
          </a:p>
        </p:txBody>
      </p:sp>
      <p:sp>
        <p:nvSpPr>
          <p:cNvPr id="13" name="Text 11"/>
          <p:cNvSpPr/>
          <p:nvPr/>
        </p:nvSpPr>
        <p:spPr>
          <a:xfrm>
            <a:off x="2560320" y="3913632"/>
            <a:ext cx="914400" cy="164592"/>
          </a:xfrm>
          <a:prstGeom prst="rect">
            <a:avLst/>
          </a:prstGeom>
          <a:noFill/>
          <a:ln/>
        </p:spPr>
        <p:txBody>
          <a:bodyPr wrap="square" lIns="0" tIns="0" rIns="0" bIns="0" rtlCol="0" anchor="ctr"/>
          <a:lstStyle/>
          <a:p>
            <a:pPr algn="ctr" indent="0" marL="0">
              <a:buNone/>
            </a:pPr>
            <a:r>
              <a:rPr lang="en-US" sz="820" dirty="0">
                <a:solidFill>
                  <a:srgbClr val="64748B"/>
                </a:solidFill>
              </a:rPr>
              <a:t>camera</a:t>
            </a:r>
            <a:endParaRPr lang="en-US" sz="820" dirty="0"/>
          </a:p>
        </p:txBody>
      </p:sp>
      <p:sp>
        <p:nvSpPr>
          <p:cNvPr id="14" name="Shape 12"/>
          <p:cNvSpPr/>
          <p:nvPr/>
        </p:nvSpPr>
        <p:spPr>
          <a:xfrm>
            <a:off x="5349240" y="3520440"/>
            <a:ext cx="0" cy="274320"/>
          </a:xfrm>
          <a:prstGeom prst="line">
            <a:avLst/>
          </a:prstGeom>
          <a:noFill/>
          <a:ln w="17780">
            <a:solidFill>
              <a:srgbClr val="2E6F9E"/>
            </a:solidFill>
            <a:prstDash val="solid"/>
          </a:ln>
        </p:spPr>
      </p:sp>
      <p:sp>
        <p:nvSpPr>
          <p:cNvPr id="15" name="Text 13"/>
          <p:cNvSpPr/>
          <p:nvPr/>
        </p:nvSpPr>
        <p:spPr>
          <a:xfrm>
            <a:off x="4937760" y="3136392"/>
            <a:ext cx="822960" cy="164592"/>
          </a:xfrm>
          <a:prstGeom prst="rect">
            <a:avLst/>
          </a:prstGeom>
          <a:noFill/>
          <a:ln/>
        </p:spPr>
        <p:txBody>
          <a:bodyPr wrap="square" lIns="0" tIns="0" rIns="0" bIns="0" rtlCol="0" anchor="ctr"/>
          <a:lstStyle/>
          <a:p>
            <a:pPr algn="ctr" indent="0" marL="0">
              <a:buNone/>
            </a:pPr>
            <a:r>
              <a:rPr lang="en-US" sz="850" b="1" dirty="0">
                <a:solidFill>
                  <a:srgbClr val="2E6F9E"/>
                </a:solidFill>
              </a:rPr>
              <a:t>t+70</a:t>
            </a:r>
            <a:endParaRPr lang="en-US" sz="850" dirty="0"/>
          </a:p>
        </p:txBody>
      </p:sp>
      <p:sp>
        <p:nvSpPr>
          <p:cNvPr id="16" name="Text 14"/>
          <p:cNvSpPr/>
          <p:nvPr/>
        </p:nvSpPr>
        <p:spPr>
          <a:xfrm>
            <a:off x="4892040" y="3913632"/>
            <a:ext cx="914400" cy="164592"/>
          </a:xfrm>
          <a:prstGeom prst="rect">
            <a:avLst/>
          </a:prstGeom>
          <a:noFill/>
          <a:ln/>
        </p:spPr>
        <p:txBody>
          <a:bodyPr wrap="square" lIns="0" tIns="0" rIns="0" bIns="0" rtlCol="0" anchor="ctr"/>
          <a:lstStyle/>
          <a:p>
            <a:pPr algn="ctr" indent="0" marL="0">
              <a:buNone/>
            </a:pPr>
            <a:r>
              <a:rPr lang="en-US" sz="820" dirty="0">
                <a:solidFill>
                  <a:srgbClr val="64748B"/>
                </a:solidFill>
              </a:rPr>
              <a:t>AI</a:t>
            </a:r>
            <a:endParaRPr lang="en-US" sz="820" dirty="0"/>
          </a:p>
        </p:txBody>
      </p:sp>
      <p:sp>
        <p:nvSpPr>
          <p:cNvPr id="17" name="Shape 15"/>
          <p:cNvSpPr/>
          <p:nvPr/>
        </p:nvSpPr>
        <p:spPr>
          <a:xfrm>
            <a:off x="7863840" y="3520440"/>
            <a:ext cx="0" cy="274320"/>
          </a:xfrm>
          <a:prstGeom prst="line">
            <a:avLst/>
          </a:prstGeom>
          <a:noFill/>
          <a:ln w="17780">
            <a:solidFill>
              <a:srgbClr val="2E6F9E"/>
            </a:solidFill>
            <a:prstDash val="solid"/>
          </a:ln>
        </p:spPr>
      </p:sp>
      <p:sp>
        <p:nvSpPr>
          <p:cNvPr id="18" name="Text 16"/>
          <p:cNvSpPr/>
          <p:nvPr/>
        </p:nvSpPr>
        <p:spPr>
          <a:xfrm>
            <a:off x="7452360" y="3136392"/>
            <a:ext cx="822960" cy="164592"/>
          </a:xfrm>
          <a:prstGeom prst="rect">
            <a:avLst/>
          </a:prstGeom>
          <a:noFill/>
          <a:ln/>
        </p:spPr>
        <p:txBody>
          <a:bodyPr wrap="square" lIns="0" tIns="0" rIns="0" bIns="0" rtlCol="0" anchor="ctr"/>
          <a:lstStyle/>
          <a:p>
            <a:pPr algn="ctr" indent="0" marL="0">
              <a:buNone/>
            </a:pPr>
            <a:r>
              <a:rPr lang="en-US" sz="850" b="1" dirty="0">
                <a:solidFill>
                  <a:srgbClr val="2E6F9E"/>
                </a:solidFill>
              </a:rPr>
              <a:t>t+100</a:t>
            </a:r>
            <a:endParaRPr lang="en-US" sz="850" dirty="0"/>
          </a:p>
        </p:txBody>
      </p:sp>
      <p:sp>
        <p:nvSpPr>
          <p:cNvPr id="19" name="Text 17"/>
          <p:cNvSpPr/>
          <p:nvPr/>
        </p:nvSpPr>
        <p:spPr>
          <a:xfrm>
            <a:off x="7406640" y="3913632"/>
            <a:ext cx="914400" cy="164592"/>
          </a:xfrm>
          <a:prstGeom prst="rect">
            <a:avLst/>
          </a:prstGeom>
          <a:noFill/>
          <a:ln/>
        </p:spPr>
        <p:txBody>
          <a:bodyPr wrap="square" lIns="0" tIns="0" rIns="0" bIns="0" rtlCol="0" anchor="ctr"/>
          <a:lstStyle/>
          <a:p>
            <a:pPr algn="ctr" indent="0" marL="0">
              <a:buNone/>
            </a:pPr>
            <a:r>
              <a:rPr lang="en-US" sz="820" dirty="0">
                <a:solidFill>
                  <a:srgbClr val="64748B"/>
                </a:solidFill>
              </a:rPr>
              <a:t>actuator</a:t>
            </a:r>
            <a:endParaRPr lang="en-US" sz="820" dirty="0"/>
          </a:p>
        </p:txBody>
      </p:sp>
      <p:sp>
        <p:nvSpPr>
          <p:cNvPr id="20" name="Shape 18"/>
          <p:cNvSpPr/>
          <p:nvPr/>
        </p:nvSpPr>
        <p:spPr>
          <a:xfrm>
            <a:off x="10881360" y="3520440"/>
            <a:ext cx="0" cy="274320"/>
          </a:xfrm>
          <a:prstGeom prst="line">
            <a:avLst/>
          </a:prstGeom>
          <a:noFill/>
          <a:ln w="17780">
            <a:solidFill>
              <a:srgbClr val="2E6F9E"/>
            </a:solidFill>
            <a:prstDash val="solid"/>
          </a:ln>
        </p:spPr>
      </p:sp>
      <p:sp>
        <p:nvSpPr>
          <p:cNvPr id="21" name="Text 19"/>
          <p:cNvSpPr/>
          <p:nvPr/>
        </p:nvSpPr>
        <p:spPr>
          <a:xfrm>
            <a:off x="10469880" y="3136392"/>
            <a:ext cx="822960" cy="164592"/>
          </a:xfrm>
          <a:prstGeom prst="rect">
            <a:avLst/>
          </a:prstGeom>
          <a:noFill/>
          <a:ln/>
        </p:spPr>
        <p:txBody>
          <a:bodyPr wrap="square" lIns="0" tIns="0" rIns="0" bIns="0" rtlCol="0" anchor="ctr"/>
          <a:lstStyle/>
          <a:p>
            <a:pPr algn="ctr" indent="0" marL="0">
              <a:buNone/>
            </a:pPr>
            <a:r>
              <a:rPr lang="en-US" sz="850" b="1" dirty="0">
                <a:solidFill>
                  <a:srgbClr val="2E6F9E"/>
                </a:solidFill>
              </a:rPr>
              <a:t>t+160</a:t>
            </a:r>
            <a:endParaRPr lang="en-US" sz="850" dirty="0"/>
          </a:p>
        </p:txBody>
      </p:sp>
      <p:sp>
        <p:nvSpPr>
          <p:cNvPr id="22" name="Text 20"/>
          <p:cNvSpPr/>
          <p:nvPr/>
        </p:nvSpPr>
        <p:spPr>
          <a:xfrm>
            <a:off x="10424160" y="3913632"/>
            <a:ext cx="914400" cy="164592"/>
          </a:xfrm>
          <a:prstGeom prst="rect">
            <a:avLst/>
          </a:prstGeom>
          <a:noFill/>
          <a:ln/>
        </p:spPr>
        <p:txBody>
          <a:bodyPr wrap="square" lIns="0" tIns="0" rIns="0" bIns="0" rtlCol="0" anchor="ctr"/>
          <a:lstStyle/>
          <a:p>
            <a:pPr algn="ctr" indent="0" marL="0">
              <a:buNone/>
            </a:pPr>
            <a:r>
              <a:rPr lang="en-US" sz="820" dirty="0">
                <a:solidFill>
                  <a:srgbClr val="64748B"/>
                </a:solidFill>
              </a:rPr>
              <a:t>logger</a:t>
            </a:r>
            <a:endParaRPr lang="en-US" sz="820" dirty="0"/>
          </a:p>
        </p:txBody>
      </p:sp>
      <p:sp>
        <p:nvSpPr>
          <p:cNvPr id="23" name="Shape 21"/>
          <p:cNvSpPr/>
          <p:nvPr/>
        </p:nvSpPr>
        <p:spPr>
          <a:xfrm>
            <a:off x="914400" y="2651760"/>
            <a:ext cx="960120" cy="457200"/>
          </a:xfrm>
          <a:prstGeom prst="roundRect">
            <a:avLst>
              <a:gd name="adj" fmla="val 14000"/>
            </a:avLst>
          </a:prstGeom>
          <a:solidFill>
            <a:srgbClr val="FFFFFF"/>
          </a:solidFill>
          <a:ln w="12700">
            <a:solidFill>
              <a:srgbClr val="D5DDE5"/>
            </a:solidFill>
            <a:prstDash val="solid"/>
          </a:ln>
        </p:spPr>
      </p:sp>
      <p:sp>
        <p:nvSpPr>
          <p:cNvPr id="24" name="Text 22"/>
          <p:cNvSpPr/>
          <p:nvPr/>
        </p:nvSpPr>
        <p:spPr>
          <a:xfrm>
            <a:off x="978408" y="2715768"/>
            <a:ext cx="832104" cy="329184"/>
          </a:xfrm>
          <a:prstGeom prst="rect">
            <a:avLst/>
          </a:prstGeom>
          <a:noFill/>
          <a:ln/>
        </p:spPr>
        <p:txBody>
          <a:bodyPr wrap="square" lIns="0" tIns="0" rIns="0" bIns="0" rtlCol="0" anchor="ctr">
            <a:normAutofit/>
          </a:bodyPr>
          <a:lstStyle/>
          <a:p>
            <a:pPr algn="ctr" indent="0" marL="0">
              <a:buNone/>
            </a:pPr>
            <a:r>
              <a:rPr lang="en-US" sz="900" dirty="0">
                <a:solidFill>
                  <a:srgbClr val="1F2933"/>
                </a:solidFill>
              </a:rPr>
              <a:t>Sensor</a:t>
            </a:r>
            <a:endParaRPr lang="en-US" sz="900" dirty="0"/>
          </a:p>
          <a:p>
            <a:pPr algn="ctr" indent="0" marL="0">
              <a:buNone/>
            </a:pPr>
            <a:r>
              <a:rPr lang="en-US" sz="900" dirty="0">
                <a:solidFill>
                  <a:srgbClr val="1F2933"/>
                </a:solidFill>
              </a:rPr>
              <a:t>2 units</a:t>
            </a:r>
            <a:endParaRPr lang="en-US" sz="900" dirty="0"/>
          </a:p>
        </p:txBody>
      </p:sp>
      <p:sp>
        <p:nvSpPr>
          <p:cNvPr id="25" name="Shape 23"/>
          <p:cNvSpPr/>
          <p:nvPr/>
        </p:nvSpPr>
        <p:spPr>
          <a:xfrm>
            <a:off x="2423160" y="2651760"/>
            <a:ext cx="960120" cy="457200"/>
          </a:xfrm>
          <a:prstGeom prst="roundRect">
            <a:avLst>
              <a:gd name="adj" fmla="val 14000"/>
            </a:avLst>
          </a:prstGeom>
          <a:solidFill>
            <a:srgbClr val="FFFFFF"/>
          </a:solidFill>
          <a:ln w="12700">
            <a:solidFill>
              <a:srgbClr val="D5DDE5"/>
            </a:solidFill>
            <a:prstDash val="solid"/>
          </a:ln>
        </p:spPr>
      </p:sp>
      <p:sp>
        <p:nvSpPr>
          <p:cNvPr id="26" name="Text 24"/>
          <p:cNvSpPr/>
          <p:nvPr/>
        </p:nvSpPr>
        <p:spPr>
          <a:xfrm>
            <a:off x="2487168" y="2715768"/>
            <a:ext cx="832104" cy="329184"/>
          </a:xfrm>
          <a:prstGeom prst="rect">
            <a:avLst/>
          </a:prstGeom>
          <a:noFill/>
          <a:ln/>
        </p:spPr>
        <p:txBody>
          <a:bodyPr wrap="square" lIns="0" tIns="0" rIns="0" bIns="0" rtlCol="0" anchor="ctr">
            <a:normAutofit/>
          </a:bodyPr>
          <a:lstStyle/>
          <a:p>
            <a:pPr algn="ctr" indent="0" marL="0">
              <a:buNone/>
            </a:pPr>
            <a:r>
              <a:rPr lang="en-US" sz="900" dirty="0">
                <a:solidFill>
                  <a:srgbClr val="1F2933"/>
                </a:solidFill>
              </a:rPr>
              <a:t>Camera</a:t>
            </a:r>
            <a:endParaRPr lang="en-US" sz="900" dirty="0"/>
          </a:p>
          <a:p>
            <a:pPr algn="ctr" indent="0" marL="0">
              <a:buNone/>
            </a:pPr>
            <a:r>
              <a:rPr lang="en-US" sz="900" dirty="0">
                <a:solidFill>
                  <a:srgbClr val="1F2933"/>
                </a:solidFill>
              </a:rPr>
              <a:t>4 units</a:t>
            </a:r>
            <a:endParaRPr lang="en-US" sz="900" dirty="0"/>
          </a:p>
        </p:txBody>
      </p:sp>
      <p:sp>
        <p:nvSpPr>
          <p:cNvPr id="27" name="Shape 25"/>
          <p:cNvSpPr/>
          <p:nvPr/>
        </p:nvSpPr>
        <p:spPr>
          <a:xfrm>
            <a:off x="4892040" y="2651760"/>
            <a:ext cx="960120" cy="457200"/>
          </a:xfrm>
          <a:prstGeom prst="roundRect">
            <a:avLst>
              <a:gd name="adj" fmla="val 14000"/>
            </a:avLst>
          </a:prstGeom>
          <a:solidFill>
            <a:srgbClr val="EAF4FA"/>
          </a:solidFill>
          <a:ln w="12700">
            <a:solidFill>
              <a:srgbClr val="2E6F9E"/>
            </a:solidFill>
            <a:prstDash val="solid"/>
          </a:ln>
        </p:spPr>
      </p:sp>
      <p:sp>
        <p:nvSpPr>
          <p:cNvPr id="28" name="Text 26"/>
          <p:cNvSpPr/>
          <p:nvPr/>
        </p:nvSpPr>
        <p:spPr>
          <a:xfrm>
            <a:off x="4956048" y="2715768"/>
            <a:ext cx="832104" cy="329184"/>
          </a:xfrm>
          <a:prstGeom prst="rect">
            <a:avLst/>
          </a:prstGeom>
          <a:noFill/>
          <a:ln/>
        </p:spPr>
        <p:txBody>
          <a:bodyPr wrap="square" lIns="0" tIns="0" rIns="0" bIns="0" rtlCol="0" anchor="ctr">
            <a:normAutofit/>
          </a:bodyPr>
          <a:lstStyle/>
          <a:p>
            <a:pPr algn="ctr" indent="0" marL="0">
              <a:buNone/>
            </a:pPr>
            <a:r>
              <a:rPr lang="en-US" sz="900" b="1" dirty="0">
                <a:solidFill>
                  <a:srgbClr val="1F2933"/>
                </a:solidFill>
              </a:rPr>
              <a:t>AI</a:t>
            </a:r>
            <a:endParaRPr lang="en-US" sz="900" dirty="0"/>
          </a:p>
          <a:p>
            <a:pPr algn="ctr" indent="0" marL="0">
              <a:buNone/>
            </a:pPr>
            <a:r>
              <a:rPr lang="en-US" sz="900" b="1" dirty="0">
                <a:solidFill>
                  <a:srgbClr val="1F2933"/>
                </a:solidFill>
              </a:rPr>
              <a:t>12 units</a:t>
            </a:r>
            <a:endParaRPr lang="en-US" sz="900" dirty="0"/>
          </a:p>
        </p:txBody>
      </p:sp>
      <p:sp>
        <p:nvSpPr>
          <p:cNvPr id="29" name="Shape 27"/>
          <p:cNvSpPr/>
          <p:nvPr/>
        </p:nvSpPr>
        <p:spPr>
          <a:xfrm>
            <a:off x="7543800" y="2651760"/>
            <a:ext cx="1097280" cy="457200"/>
          </a:xfrm>
          <a:prstGeom prst="roundRect">
            <a:avLst>
              <a:gd name="adj" fmla="val 14000"/>
            </a:avLst>
          </a:prstGeom>
          <a:solidFill>
            <a:srgbClr val="FFF3F3"/>
          </a:solidFill>
          <a:ln w="12700">
            <a:solidFill>
              <a:srgbClr val="D64545"/>
            </a:solidFill>
            <a:prstDash val="solid"/>
          </a:ln>
        </p:spPr>
      </p:sp>
      <p:sp>
        <p:nvSpPr>
          <p:cNvPr id="30" name="Text 28"/>
          <p:cNvSpPr/>
          <p:nvPr/>
        </p:nvSpPr>
        <p:spPr>
          <a:xfrm>
            <a:off x="7607808" y="2715768"/>
            <a:ext cx="969264" cy="329184"/>
          </a:xfrm>
          <a:prstGeom prst="rect">
            <a:avLst/>
          </a:prstGeom>
          <a:noFill/>
          <a:ln/>
        </p:spPr>
        <p:txBody>
          <a:bodyPr wrap="square" lIns="0" tIns="0" rIns="0" bIns="0" rtlCol="0" anchor="ctr">
            <a:normAutofit/>
          </a:bodyPr>
          <a:lstStyle/>
          <a:p>
            <a:pPr algn="ctr" indent="0" marL="0">
              <a:buNone/>
            </a:pPr>
            <a:r>
              <a:rPr lang="en-US" sz="900" b="1" dirty="0">
                <a:solidFill>
                  <a:srgbClr val="D64545"/>
                </a:solidFill>
              </a:rPr>
              <a:t>Actuator</a:t>
            </a:r>
            <a:endParaRPr lang="en-US" sz="900" dirty="0"/>
          </a:p>
          <a:p>
            <a:pPr algn="ctr" indent="0" marL="0">
              <a:buNone/>
            </a:pPr>
            <a:r>
              <a:rPr lang="en-US" sz="900" b="1" dirty="0">
                <a:solidFill>
                  <a:srgbClr val="D64545"/>
                </a:solidFill>
              </a:rPr>
              <a:t>4 units</a:t>
            </a:r>
            <a:endParaRPr lang="en-US" sz="900" dirty="0"/>
          </a:p>
        </p:txBody>
      </p:sp>
      <p:sp>
        <p:nvSpPr>
          <p:cNvPr id="31" name="Shape 29"/>
          <p:cNvSpPr/>
          <p:nvPr/>
        </p:nvSpPr>
        <p:spPr>
          <a:xfrm>
            <a:off x="1005840" y="5212080"/>
            <a:ext cx="10058400" cy="502920"/>
          </a:xfrm>
          <a:prstGeom prst="roundRect">
            <a:avLst>
              <a:gd name="adj" fmla="val 12727"/>
            </a:avLst>
          </a:prstGeom>
          <a:solidFill>
            <a:srgbClr val="F4F8FB"/>
          </a:solidFill>
          <a:ln w="12700">
            <a:solidFill>
              <a:srgbClr val="D5DDE5"/>
            </a:solidFill>
            <a:prstDash val="solid"/>
          </a:ln>
        </p:spPr>
      </p:sp>
      <p:sp>
        <p:nvSpPr>
          <p:cNvPr id="32" name="Text 30"/>
          <p:cNvSpPr/>
          <p:nvPr/>
        </p:nvSpPr>
        <p:spPr>
          <a:xfrm>
            <a:off x="1069848" y="5276088"/>
            <a:ext cx="9930384" cy="374904"/>
          </a:xfrm>
          <a:prstGeom prst="rect">
            <a:avLst/>
          </a:prstGeom>
          <a:noFill/>
          <a:ln/>
        </p:spPr>
        <p:txBody>
          <a:bodyPr wrap="square" lIns="0" tIns="0" rIns="0" bIns="0" rtlCol="0" anchor="ctr">
            <a:normAutofit/>
          </a:bodyPr>
          <a:lstStyle/>
          <a:p>
            <a:pPr algn="ctr" indent="0" marL="0">
              <a:buNone/>
            </a:pPr>
            <a:r>
              <a:rPr lang="en-US" sz="1300" b="1" dirty="0">
                <a:solidFill>
                  <a:srgbClr val="1F2933"/>
                </a:solidFill>
              </a:rPr>
              <a:t>Scheduling objective: reduce deadline misses while keeping task flow explainable.</a:t>
            </a:r>
            <a:endParaRPr lang="en-US" sz="1300" dirty="0"/>
          </a:p>
        </p:txBody>
      </p:sp>
      <p:sp>
        <p:nvSpPr>
          <p:cNvPr id="33" name="Shape 31"/>
          <p:cNvSpPr/>
          <p:nvPr/>
        </p:nvSpPr>
        <p:spPr>
          <a:xfrm>
            <a:off x="548640" y="6446520"/>
            <a:ext cx="11064240" cy="0"/>
          </a:xfrm>
          <a:prstGeom prst="line">
            <a:avLst/>
          </a:prstGeom>
          <a:noFill/>
          <a:ln w="10160">
            <a:solidFill>
              <a:srgbClr val="D5DDE5"/>
            </a:solidFill>
            <a:prstDash val="solid"/>
          </a:ln>
        </p:spPr>
      </p:sp>
      <p:sp>
        <p:nvSpPr>
          <p:cNvPr id="34" name="Text 32"/>
          <p:cNvSpPr/>
          <p:nvPr/>
        </p:nvSpPr>
        <p:spPr>
          <a:xfrm>
            <a:off x="548640" y="6547104"/>
            <a:ext cx="5029200" cy="164592"/>
          </a:xfrm>
          <a:prstGeom prst="rect">
            <a:avLst/>
          </a:prstGeom>
          <a:noFill/>
          <a:ln/>
        </p:spPr>
        <p:txBody>
          <a:bodyPr wrap="square" lIns="0" tIns="0" rIns="0" bIns="0" rtlCol="0" anchor="ctr"/>
          <a:lstStyle/>
          <a:p>
            <a:pPr indent="0" marL="0">
              <a:buNone/>
            </a:pPr>
            <a:r>
              <a:rPr lang="en-US" sz="750" dirty="0">
                <a:solidFill>
                  <a:srgbClr val="64748B"/>
                </a:solidFill>
              </a:rPr>
              <a:t>OS Reliability in AI-Assisted Lean Visual Inspection</a:t>
            </a:r>
            <a:endParaRPr lang="en-US" sz="750" dirty="0"/>
          </a:p>
        </p:txBody>
      </p:sp>
      <p:sp>
        <p:nvSpPr>
          <p:cNvPr id="35" name="Text 33"/>
          <p:cNvSpPr/>
          <p:nvPr/>
        </p:nvSpPr>
        <p:spPr>
          <a:xfrm>
            <a:off x="10789920" y="6547104"/>
            <a:ext cx="822960" cy="164592"/>
          </a:xfrm>
          <a:prstGeom prst="rect">
            <a:avLst/>
          </a:prstGeom>
          <a:noFill/>
          <a:ln/>
        </p:spPr>
        <p:txBody>
          <a:bodyPr wrap="square" lIns="0" tIns="0" rIns="0" bIns="0" rtlCol="0" anchor="ctr"/>
          <a:lstStyle/>
          <a:p>
            <a:pPr algn="r" indent="0" marL="0">
              <a:buNone/>
            </a:pPr>
            <a:r>
              <a:rPr lang="en-US" sz="750" dirty="0">
                <a:solidFill>
                  <a:srgbClr val="64748B"/>
                </a:solidFill>
              </a:rPr>
              <a:t>Slide 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548640" y="502920"/>
            <a:ext cx="11064240" cy="0"/>
          </a:xfrm>
          <a:prstGeom prst="line">
            <a:avLst/>
          </a:prstGeom>
          <a:noFill/>
          <a:ln w="12700">
            <a:solidFill>
              <a:srgbClr val="D5DDE5"/>
            </a:solidFill>
            <a:prstDash val="solid"/>
          </a:ln>
        </p:spPr>
      </p:sp>
      <p:sp>
        <p:nvSpPr>
          <p:cNvPr id="3" name="Text 1"/>
          <p:cNvSpPr/>
          <p:nvPr/>
        </p:nvSpPr>
        <p:spPr>
          <a:xfrm>
            <a:off x="685800" y="685800"/>
            <a:ext cx="4389120" cy="201168"/>
          </a:xfrm>
          <a:prstGeom prst="rect">
            <a:avLst/>
          </a:prstGeom>
          <a:noFill/>
          <a:ln/>
        </p:spPr>
        <p:txBody>
          <a:bodyPr wrap="square" lIns="0" tIns="0" rIns="0" bIns="0" rtlCol="0" anchor="ctr"/>
          <a:lstStyle/>
          <a:p>
            <a:pPr indent="0" marL="0">
              <a:buNone/>
            </a:pPr>
            <a:r>
              <a:rPr lang="en-US" sz="850" b="1" dirty="0">
                <a:solidFill>
                  <a:srgbClr val="64748B"/>
                </a:solidFill>
              </a:rPr>
              <a:t>ALGORITHMS</a:t>
            </a:r>
            <a:endParaRPr lang="en-US" sz="850" dirty="0"/>
          </a:p>
        </p:txBody>
      </p:sp>
      <p:sp>
        <p:nvSpPr>
          <p:cNvPr id="4" name="Text 2"/>
          <p:cNvSpPr/>
          <p:nvPr/>
        </p:nvSpPr>
        <p:spPr>
          <a:xfrm>
            <a:off x="685800" y="960120"/>
            <a:ext cx="10241280" cy="411480"/>
          </a:xfrm>
          <a:prstGeom prst="rect">
            <a:avLst/>
          </a:prstGeom>
          <a:noFill/>
          <a:ln/>
        </p:spPr>
        <p:txBody>
          <a:bodyPr wrap="square" lIns="0" tIns="0" rIns="0" bIns="0" rtlCol="0" anchor="ctr">
            <a:normAutofit/>
          </a:bodyP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Five schedulers compared</a:t>
            </a:r>
            <a:endParaRPr lang="en-US" sz="2500" dirty="0"/>
          </a:p>
        </p:txBody>
      </p:sp>
      <p:sp>
        <p:nvSpPr>
          <p:cNvPr id="5" name="Text 3"/>
          <p:cNvSpPr/>
          <p:nvPr/>
        </p:nvSpPr>
        <p:spPr>
          <a:xfrm>
            <a:off x="704088" y="1490472"/>
            <a:ext cx="9875520" cy="292608"/>
          </a:xfrm>
          <a:prstGeom prst="rect">
            <a:avLst/>
          </a:prstGeom>
          <a:noFill/>
          <a:ln/>
        </p:spPr>
        <p:txBody>
          <a:bodyPr wrap="square" lIns="0" tIns="0" rIns="0" bIns="0" rtlCol="0" anchor="ctr">
            <a:normAutofit/>
          </a:bodyPr>
          <a:lstStyle/>
          <a:p>
            <a:pPr indent="0" marL="0">
              <a:buNone/>
            </a:pPr>
            <a:r>
              <a:rPr lang="en-US" sz="1150" dirty="0">
                <a:solidFill>
                  <a:srgbClr val="64748B"/>
                </a:solidFill>
              </a:rPr>
              <a:t>One baseline does not capture a real-time inspection cell.</a:t>
            </a:r>
            <a:endParaRPr lang="en-US" sz="1150" dirty="0"/>
          </a:p>
        </p:txBody>
      </p:sp>
      <p:sp>
        <p:nvSpPr>
          <p:cNvPr id="6" name="Shape 4"/>
          <p:cNvSpPr/>
          <p:nvPr/>
        </p:nvSpPr>
        <p:spPr>
          <a:xfrm>
            <a:off x="822960" y="2057400"/>
            <a:ext cx="1645920" cy="384048"/>
          </a:xfrm>
          <a:prstGeom prst="roundRect">
            <a:avLst>
              <a:gd name="adj" fmla="val 16667"/>
            </a:avLst>
          </a:prstGeom>
          <a:solidFill>
            <a:srgbClr val="FFFFFF"/>
          </a:solidFill>
          <a:ln w="12700">
            <a:solidFill>
              <a:srgbClr val="D5DDE5"/>
            </a:solidFill>
            <a:prstDash val="solid"/>
          </a:ln>
        </p:spPr>
      </p:sp>
      <p:sp>
        <p:nvSpPr>
          <p:cNvPr id="7" name="Text 5"/>
          <p:cNvSpPr/>
          <p:nvPr/>
        </p:nvSpPr>
        <p:spPr>
          <a:xfrm>
            <a:off x="886968" y="2121408"/>
            <a:ext cx="1517904" cy="256032"/>
          </a:xfrm>
          <a:prstGeom prst="rect">
            <a:avLst/>
          </a:prstGeom>
          <a:noFill/>
          <a:ln/>
        </p:spPr>
        <p:txBody>
          <a:bodyPr wrap="square" lIns="0" tIns="0" rIns="0" bIns="0" rtlCol="0" anchor="ctr">
            <a:normAutofit/>
          </a:bodyPr>
          <a:lstStyle/>
          <a:p>
            <a:pPr algn="ctr" indent="0" marL="0">
              <a:buNone/>
            </a:pPr>
            <a:r>
              <a:rPr lang="en-US" sz="1150" b="1" dirty="0">
                <a:solidFill>
                  <a:srgbClr val="1F2933"/>
                </a:solidFill>
              </a:rPr>
              <a:t>FCFS</a:t>
            </a:r>
            <a:endParaRPr lang="en-US" sz="1150" dirty="0"/>
          </a:p>
        </p:txBody>
      </p:sp>
      <p:sp>
        <p:nvSpPr>
          <p:cNvPr id="8" name="Text 6"/>
          <p:cNvSpPr/>
          <p:nvPr/>
        </p:nvSpPr>
        <p:spPr>
          <a:xfrm>
            <a:off x="2834640" y="2130552"/>
            <a:ext cx="2103120" cy="164592"/>
          </a:xfrm>
          <a:prstGeom prst="rect">
            <a:avLst/>
          </a:prstGeom>
          <a:noFill/>
          <a:ln/>
        </p:spPr>
        <p:txBody>
          <a:bodyPr wrap="square" lIns="0" tIns="0" rIns="0" bIns="0" rtlCol="0" anchor="ctr"/>
          <a:lstStyle/>
          <a:p>
            <a:pPr indent="0" marL="0">
              <a:buNone/>
            </a:pPr>
            <a:r>
              <a:rPr lang="en-US" sz="1120" b="1" dirty="0">
                <a:solidFill>
                  <a:srgbClr val="1F2933"/>
                </a:solidFill>
              </a:rPr>
              <a:t>Arrival order</a:t>
            </a:r>
            <a:endParaRPr lang="en-US" sz="1120" dirty="0"/>
          </a:p>
        </p:txBody>
      </p:sp>
      <p:sp>
        <p:nvSpPr>
          <p:cNvPr id="9" name="Text 7"/>
          <p:cNvSpPr/>
          <p:nvPr/>
        </p:nvSpPr>
        <p:spPr>
          <a:xfrm>
            <a:off x="5257800" y="2130552"/>
            <a:ext cx="5760720" cy="164592"/>
          </a:xfrm>
          <a:prstGeom prst="rect">
            <a:avLst/>
          </a:prstGeom>
          <a:noFill/>
          <a:ln/>
        </p:spPr>
        <p:txBody>
          <a:bodyPr wrap="square" lIns="0" tIns="0" rIns="0" bIns="0" rtlCol="0" anchor="ctr">
            <a:normAutofit/>
          </a:bodyPr>
          <a:lstStyle/>
          <a:p>
            <a:pPr indent="0" marL="0">
              <a:buNone/>
            </a:pPr>
            <a:r>
              <a:rPr lang="en-US" sz="1080" dirty="0">
                <a:solidFill>
                  <a:srgbClr val="64748B"/>
                </a:solidFill>
              </a:rPr>
              <a:t>Simple baseline; ignores urgency.</a:t>
            </a:r>
            <a:endParaRPr lang="en-US" sz="1080" dirty="0"/>
          </a:p>
        </p:txBody>
      </p:sp>
      <p:sp>
        <p:nvSpPr>
          <p:cNvPr id="10" name="Shape 8"/>
          <p:cNvSpPr/>
          <p:nvPr/>
        </p:nvSpPr>
        <p:spPr>
          <a:xfrm>
            <a:off x="822960" y="2715768"/>
            <a:ext cx="1645920" cy="384048"/>
          </a:xfrm>
          <a:prstGeom prst="roundRect">
            <a:avLst>
              <a:gd name="adj" fmla="val 16667"/>
            </a:avLst>
          </a:prstGeom>
          <a:solidFill>
            <a:srgbClr val="FFFFFF"/>
          </a:solidFill>
          <a:ln w="12700">
            <a:solidFill>
              <a:srgbClr val="D5DDE5"/>
            </a:solidFill>
            <a:prstDash val="solid"/>
          </a:ln>
        </p:spPr>
      </p:sp>
      <p:sp>
        <p:nvSpPr>
          <p:cNvPr id="11" name="Text 9"/>
          <p:cNvSpPr/>
          <p:nvPr/>
        </p:nvSpPr>
        <p:spPr>
          <a:xfrm>
            <a:off x="886968" y="2779776"/>
            <a:ext cx="1517904" cy="256032"/>
          </a:xfrm>
          <a:prstGeom prst="rect">
            <a:avLst/>
          </a:prstGeom>
          <a:noFill/>
          <a:ln/>
        </p:spPr>
        <p:txBody>
          <a:bodyPr wrap="square" lIns="0" tIns="0" rIns="0" bIns="0" rtlCol="0" anchor="ctr">
            <a:normAutofit/>
          </a:bodyPr>
          <a:lstStyle/>
          <a:p>
            <a:pPr algn="ctr" indent="0" marL="0">
              <a:buNone/>
            </a:pPr>
            <a:r>
              <a:rPr lang="en-US" sz="1150" b="1" dirty="0">
                <a:solidFill>
                  <a:srgbClr val="1F2933"/>
                </a:solidFill>
              </a:rPr>
              <a:t>Round Robin</a:t>
            </a:r>
            <a:endParaRPr lang="en-US" sz="1150" dirty="0"/>
          </a:p>
        </p:txBody>
      </p:sp>
      <p:sp>
        <p:nvSpPr>
          <p:cNvPr id="12" name="Text 10"/>
          <p:cNvSpPr/>
          <p:nvPr/>
        </p:nvSpPr>
        <p:spPr>
          <a:xfrm>
            <a:off x="2834640" y="2788920"/>
            <a:ext cx="2103120" cy="164592"/>
          </a:xfrm>
          <a:prstGeom prst="rect">
            <a:avLst/>
          </a:prstGeom>
          <a:noFill/>
          <a:ln/>
        </p:spPr>
        <p:txBody>
          <a:bodyPr wrap="square" lIns="0" tIns="0" rIns="0" bIns="0" rtlCol="0" anchor="ctr"/>
          <a:lstStyle/>
          <a:p>
            <a:pPr indent="0" marL="0">
              <a:buNone/>
            </a:pPr>
            <a:r>
              <a:rPr lang="en-US" sz="1120" b="1" dirty="0">
                <a:solidFill>
                  <a:srgbClr val="1F2933"/>
                </a:solidFill>
              </a:rPr>
              <a:t>Time quantum</a:t>
            </a:r>
            <a:endParaRPr lang="en-US" sz="1120" dirty="0"/>
          </a:p>
        </p:txBody>
      </p:sp>
      <p:sp>
        <p:nvSpPr>
          <p:cNvPr id="13" name="Text 11"/>
          <p:cNvSpPr/>
          <p:nvPr/>
        </p:nvSpPr>
        <p:spPr>
          <a:xfrm>
            <a:off x="5257800" y="2788920"/>
            <a:ext cx="5760720" cy="164592"/>
          </a:xfrm>
          <a:prstGeom prst="rect">
            <a:avLst/>
          </a:prstGeom>
          <a:noFill/>
          <a:ln/>
        </p:spPr>
        <p:txBody>
          <a:bodyPr wrap="square" lIns="0" tIns="0" rIns="0" bIns="0" rtlCol="0" anchor="ctr">
            <a:normAutofit/>
          </a:bodyPr>
          <a:lstStyle/>
          <a:p>
            <a:pPr indent="0" marL="0">
              <a:buNone/>
            </a:pPr>
            <a:r>
              <a:rPr lang="en-US" sz="1080" dirty="0">
                <a:solidFill>
                  <a:srgbClr val="64748B"/>
                </a:solidFill>
              </a:rPr>
              <a:t>Fair, but fragments urgent work.</a:t>
            </a:r>
            <a:endParaRPr lang="en-US" sz="1080" dirty="0"/>
          </a:p>
        </p:txBody>
      </p:sp>
      <p:sp>
        <p:nvSpPr>
          <p:cNvPr id="14" name="Shape 12"/>
          <p:cNvSpPr/>
          <p:nvPr/>
        </p:nvSpPr>
        <p:spPr>
          <a:xfrm>
            <a:off x="822960" y="3374136"/>
            <a:ext cx="1645920" cy="384048"/>
          </a:xfrm>
          <a:prstGeom prst="roundRect">
            <a:avLst>
              <a:gd name="adj" fmla="val 16667"/>
            </a:avLst>
          </a:prstGeom>
          <a:solidFill>
            <a:srgbClr val="FFFFFF"/>
          </a:solidFill>
          <a:ln w="12700">
            <a:solidFill>
              <a:srgbClr val="D5DDE5"/>
            </a:solidFill>
            <a:prstDash val="solid"/>
          </a:ln>
        </p:spPr>
      </p:sp>
      <p:sp>
        <p:nvSpPr>
          <p:cNvPr id="15" name="Text 13"/>
          <p:cNvSpPr/>
          <p:nvPr/>
        </p:nvSpPr>
        <p:spPr>
          <a:xfrm>
            <a:off x="886968" y="3438144"/>
            <a:ext cx="1517904" cy="256032"/>
          </a:xfrm>
          <a:prstGeom prst="rect">
            <a:avLst/>
          </a:prstGeom>
          <a:noFill/>
          <a:ln/>
        </p:spPr>
        <p:txBody>
          <a:bodyPr wrap="square" lIns="0" tIns="0" rIns="0" bIns="0" rtlCol="0" anchor="ctr">
            <a:normAutofit/>
          </a:bodyPr>
          <a:lstStyle/>
          <a:p>
            <a:pPr algn="ctr" indent="0" marL="0">
              <a:buNone/>
            </a:pPr>
            <a:r>
              <a:rPr lang="en-US" sz="1150" b="1" dirty="0">
                <a:solidFill>
                  <a:srgbClr val="1F2933"/>
                </a:solidFill>
              </a:rPr>
              <a:t>Priority</a:t>
            </a:r>
            <a:endParaRPr lang="en-US" sz="1150" dirty="0"/>
          </a:p>
        </p:txBody>
      </p:sp>
      <p:sp>
        <p:nvSpPr>
          <p:cNvPr id="16" name="Text 14"/>
          <p:cNvSpPr/>
          <p:nvPr/>
        </p:nvSpPr>
        <p:spPr>
          <a:xfrm>
            <a:off x="2834640" y="3447288"/>
            <a:ext cx="2103120" cy="164592"/>
          </a:xfrm>
          <a:prstGeom prst="rect">
            <a:avLst/>
          </a:prstGeom>
          <a:noFill/>
          <a:ln/>
        </p:spPr>
        <p:txBody>
          <a:bodyPr wrap="square" lIns="0" tIns="0" rIns="0" bIns="0" rtlCol="0" anchor="ctr"/>
          <a:lstStyle/>
          <a:p>
            <a:pPr indent="0" marL="0">
              <a:buNone/>
            </a:pPr>
            <a:r>
              <a:rPr lang="en-US" sz="1120" b="1" dirty="0">
                <a:solidFill>
                  <a:srgbClr val="1F2933"/>
                </a:solidFill>
              </a:rPr>
              <a:t>Criticality first</a:t>
            </a:r>
            <a:endParaRPr lang="en-US" sz="1120" dirty="0"/>
          </a:p>
        </p:txBody>
      </p:sp>
      <p:sp>
        <p:nvSpPr>
          <p:cNvPr id="17" name="Text 15"/>
          <p:cNvSpPr/>
          <p:nvPr/>
        </p:nvSpPr>
        <p:spPr>
          <a:xfrm>
            <a:off x="5257800" y="3447288"/>
            <a:ext cx="5760720" cy="164592"/>
          </a:xfrm>
          <a:prstGeom prst="rect">
            <a:avLst/>
          </a:prstGeom>
          <a:noFill/>
          <a:ln/>
        </p:spPr>
        <p:txBody>
          <a:bodyPr wrap="square" lIns="0" tIns="0" rIns="0" bIns="0" rtlCol="0" anchor="ctr">
            <a:normAutofit/>
          </a:bodyPr>
          <a:lstStyle/>
          <a:p>
            <a:pPr indent="0" marL="0">
              <a:buNone/>
            </a:pPr>
            <a:r>
              <a:rPr lang="en-US" sz="1080" dirty="0">
                <a:solidFill>
                  <a:srgbClr val="64748B"/>
                </a:solidFill>
              </a:rPr>
              <a:t>Protects actuator/sensor if priorities are correct.</a:t>
            </a:r>
            <a:endParaRPr lang="en-US" sz="1080" dirty="0"/>
          </a:p>
        </p:txBody>
      </p:sp>
      <p:sp>
        <p:nvSpPr>
          <p:cNvPr id="18" name="Shape 16"/>
          <p:cNvSpPr/>
          <p:nvPr/>
        </p:nvSpPr>
        <p:spPr>
          <a:xfrm>
            <a:off x="822960" y="4032504"/>
            <a:ext cx="1645920" cy="384048"/>
          </a:xfrm>
          <a:prstGeom prst="roundRect">
            <a:avLst>
              <a:gd name="adj" fmla="val 16667"/>
            </a:avLst>
          </a:prstGeom>
          <a:solidFill>
            <a:srgbClr val="FFFFFF"/>
          </a:solidFill>
          <a:ln w="12700">
            <a:solidFill>
              <a:srgbClr val="D5DDE5"/>
            </a:solidFill>
            <a:prstDash val="solid"/>
          </a:ln>
        </p:spPr>
      </p:sp>
      <p:sp>
        <p:nvSpPr>
          <p:cNvPr id="19" name="Text 17"/>
          <p:cNvSpPr/>
          <p:nvPr/>
        </p:nvSpPr>
        <p:spPr>
          <a:xfrm>
            <a:off x="886968" y="4096512"/>
            <a:ext cx="1517904" cy="256032"/>
          </a:xfrm>
          <a:prstGeom prst="rect">
            <a:avLst/>
          </a:prstGeom>
          <a:noFill/>
          <a:ln/>
        </p:spPr>
        <p:txBody>
          <a:bodyPr wrap="square" lIns="0" tIns="0" rIns="0" bIns="0" rtlCol="0" anchor="ctr">
            <a:normAutofit/>
          </a:bodyPr>
          <a:lstStyle/>
          <a:p>
            <a:pPr algn="ctr" indent="0" marL="0">
              <a:buNone/>
            </a:pPr>
            <a:r>
              <a:rPr lang="en-US" sz="1150" b="1" dirty="0">
                <a:solidFill>
                  <a:srgbClr val="1F2933"/>
                </a:solidFill>
              </a:rPr>
              <a:t>RMS</a:t>
            </a:r>
            <a:endParaRPr lang="en-US" sz="1150" dirty="0"/>
          </a:p>
        </p:txBody>
      </p:sp>
      <p:sp>
        <p:nvSpPr>
          <p:cNvPr id="20" name="Text 18"/>
          <p:cNvSpPr/>
          <p:nvPr/>
        </p:nvSpPr>
        <p:spPr>
          <a:xfrm>
            <a:off x="2834640" y="4105656"/>
            <a:ext cx="2103120" cy="164592"/>
          </a:xfrm>
          <a:prstGeom prst="rect">
            <a:avLst/>
          </a:prstGeom>
          <a:noFill/>
          <a:ln/>
        </p:spPr>
        <p:txBody>
          <a:bodyPr wrap="square" lIns="0" tIns="0" rIns="0" bIns="0" rtlCol="0" anchor="ctr"/>
          <a:lstStyle/>
          <a:p>
            <a:pPr indent="0" marL="0">
              <a:buNone/>
            </a:pPr>
            <a:r>
              <a:rPr lang="en-US" sz="1120" b="1" dirty="0">
                <a:solidFill>
                  <a:srgbClr val="1F2933"/>
                </a:solidFill>
              </a:rPr>
              <a:t>Shortest period first</a:t>
            </a:r>
            <a:endParaRPr lang="en-US" sz="1120" dirty="0"/>
          </a:p>
        </p:txBody>
      </p:sp>
      <p:sp>
        <p:nvSpPr>
          <p:cNvPr id="21" name="Text 19"/>
          <p:cNvSpPr/>
          <p:nvPr/>
        </p:nvSpPr>
        <p:spPr>
          <a:xfrm>
            <a:off x="5257800" y="4105656"/>
            <a:ext cx="5760720" cy="164592"/>
          </a:xfrm>
          <a:prstGeom prst="rect">
            <a:avLst/>
          </a:prstGeom>
          <a:noFill/>
          <a:ln/>
        </p:spPr>
        <p:txBody>
          <a:bodyPr wrap="square" lIns="0" tIns="0" rIns="0" bIns="0" rtlCol="0" anchor="ctr">
            <a:normAutofit/>
          </a:bodyPr>
          <a:lstStyle/>
          <a:p>
            <a:pPr indent="0" marL="0">
              <a:buNone/>
            </a:pPr>
            <a:r>
              <a:rPr lang="en-US" sz="1080" dirty="0">
                <a:solidFill>
                  <a:srgbClr val="64748B"/>
                </a:solidFill>
              </a:rPr>
              <a:t>Useful for periodic control loops.</a:t>
            </a:r>
            <a:endParaRPr lang="en-US" sz="1080" dirty="0"/>
          </a:p>
        </p:txBody>
      </p:sp>
      <p:sp>
        <p:nvSpPr>
          <p:cNvPr id="22" name="Shape 20"/>
          <p:cNvSpPr/>
          <p:nvPr/>
        </p:nvSpPr>
        <p:spPr>
          <a:xfrm>
            <a:off x="822960" y="4690872"/>
            <a:ext cx="1645920" cy="384048"/>
          </a:xfrm>
          <a:prstGeom prst="roundRect">
            <a:avLst>
              <a:gd name="adj" fmla="val 16667"/>
            </a:avLst>
          </a:prstGeom>
          <a:solidFill>
            <a:srgbClr val="EAF4FA"/>
          </a:solidFill>
          <a:ln w="12700">
            <a:solidFill>
              <a:srgbClr val="2E6F9E"/>
            </a:solidFill>
            <a:prstDash val="solid"/>
          </a:ln>
        </p:spPr>
      </p:sp>
      <p:sp>
        <p:nvSpPr>
          <p:cNvPr id="23" name="Text 21"/>
          <p:cNvSpPr/>
          <p:nvPr/>
        </p:nvSpPr>
        <p:spPr>
          <a:xfrm>
            <a:off x="886968" y="4754880"/>
            <a:ext cx="1517904" cy="256032"/>
          </a:xfrm>
          <a:prstGeom prst="rect">
            <a:avLst/>
          </a:prstGeom>
          <a:noFill/>
          <a:ln/>
        </p:spPr>
        <p:txBody>
          <a:bodyPr wrap="square" lIns="0" tIns="0" rIns="0" bIns="0" rtlCol="0" anchor="ctr">
            <a:normAutofit/>
          </a:bodyPr>
          <a:lstStyle/>
          <a:p>
            <a:pPr algn="ctr" indent="0" marL="0">
              <a:buNone/>
            </a:pPr>
            <a:r>
              <a:rPr lang="en-US" sz="1150" b="1" dirty="0">
                <a:solidFill>
                  <a:srgbClr val="2E6F9E"/>
                </a:solidFill>
              </a:rPr>
              <a:t>EDF</a:t>
            </a:r>
            <a:endParaRPr lang="en-US" sz="1150" dirty="0"/>
          </a:p>
        </p:txBody>
      </p:sp>
      <p:sp>
        <p:nvSpPr>
          <p:cNvPr id="24" name="Text 22"/>
          <p:cNvSpPr/>
          <p:nvPr/>
        </p:nvSpPr>
        <p:spPr>
          <a:xfrm>
            <a:off x="2834640" y="4764024"/>
            <a:ext cx="2103120" cy="164592"/>
          </a:xfrm>
          <a:prstGeom prst="rect">
            <a:avLst/>
          </a:prstGeom>
          <a:noFill/>
          <a:ln/>
        </p:spPr>
        <p:txBody>
          <a:bodyPr wrap="square" lIns="0" tIns="0" rIns="0" bIns="0" rtlCol="0" anchor="ctr"/>
          <a:lstStyle/>
          <a:p>
            <a:pPr indent="0" marL="0">
              <a:buNone/>
            </a:pPr>
            <a:r>
              <a:rPr lang="en-US" sz="1120" b="1" dirty="0">
                <a:solidFill>
                  <a:srgbClr val="1F2933"/>
                </a:solidFill>
              </a:rPr>
              <a:t>Nearest deadline first</a:t>
            </a:r>
            <a:endParaRPr lang="en-US" sz="1120" dirty="0"/>
          </a:p>
        </p:txBody>
      </p:sp>
      <p:sp>
        <p:nvSpPr>
          <p:cNvPr id="25" name="Text 23"/>
          <p:cNvSpPr/>
          <p:nvPr/>
        </p:nvSpPr>
        <p:spPr>
          <a:xfrm>
            <a:off x="5257800" y="4764024"/>
            <a:ext cx="5760720" cy="164592"/>
          </a:xfrm>
          <a:prstGeom prst="rect">
            <a:avLst/>
          </a:prstGeom>
          <a:noFill/>
          <a:ln/>
        </p:spPr>
        <p:txBody>
          <a:bodyPr wrap="square" lIns="0" tIns="0" rIns="0" bIns="0" rtlCol="0" anchor="ctr">
            <a:normAutofit/>
          </a:bodyPr>
          <a:lstStyle/>
          <a:p>
            <a:pPr indent="0" marL="0">
              <a:buNone/>
            </a:pPr>
            <a:r>
              <a:rPr lang="en-US" sz="1080" dirty="0">
                <a:solidFill>
                  <a:srgbClr val="64748B"/>
                </a:solidFill>
              </a:rPr>
              <a:t>Best conceptual fit for conveyor deadlines.</a:t>
            </a:r>
            <a:endParaRPr lang="en-US" sz="1080" dirty="0"/>
          </a:p>
        </p:txBody>
      </p:sp>
      <p:sp>
        <p:nvSpPr>
          <p:cNvPr id="26" name="Shape 24"/>
          <p:cNvSpPr/>
          <p:nvPr/>
        </p:nvSpPr>
        <p:spPr>
          <a:xfrm>
            <a:off x="914400" y="5715000"/>
            <a:ext cx="10149840" cy="420624"/>
          </a:xfrm>
          <a:prstGeom prst="roundRect">
            <a:avLst>
              <a:gd name="adj" fmla="val 15217"/>
            </a:avLst>
          </a:prstGeom>
          <a:solidFill>
            <a:srgbClr val="F4F8FB"/>
          </a:solidFill>
          <a:ln w="12700">
            <a:solidFill>
              <a:srgbClr val="D5DDE5"/>
            </a:solidFill>
            <a:prstDash val="solid"/>
          </a:ln>
        </p:spPr>
      </p:sp>
      <p:sp>
        <p:nvSpPr>
          <p:cNvPr id="27" name="Text 25"/>
          <p:cNvSpPr/>
          <p:nvPr/>
        </p:nvSpPr>
        <p:spPr>
          <a:xfrm>
            <a:off x="978408" y="5779008"/>
            <a:ext cx="10021824" cy="292608"/>
          </a:xfrm>
          <a:prstGeom prst="rect">
            <a:avLst/>
          </a:prstGeom>
          <a:noFill/>
          <a:ln/>
        </p:spPr>
        <p:txBody>
          <a:bodyPr wrap="square" lIns="0" tIns="0" rIns="0" bIns="0" rtlCol="0" anchor="ctr">
            <a:normAutofit/>
          </a:bodyPr>
          <a:lstStyle/>
          <a:p>
            <a:pPr algn="ctr" indent="0" marL="0">
              <a:buNone/>
            </a:pPr>
            <a:r>
              <a:rPr lang="en-US" sz="1250" b="1" dirty="0">
                <a:solidFill>
                  <a:srgbClr val="1F2933"/>
                </a:solidFill>
              </a:rPr>
              <a:t>Interpretation: EDF and RMS are strongest real-time lenses; FCFS and RR remain useful baselines.</a:t>
            </a:r>
            <a:endParaRPr lang="en-US" sz="1250" dirty="0"/>
          </a:p>
        </p:txBody>
      </p:sp>
      <p:sp>
        <p:nvSpPr>
          <p:cNvPr id="28" name="Shape 26"/>
          <p:cNvSpPr/>
          <p:nvPr/>
        </p:nvSpPr>
        <p:spPr>
          <a:xfrm>
            <a:off x="548640" y="6446520"/>
            <a:ext cx="11064240" cy="0"/>
          </a:xfrm>
          <a:prstGeom prst="line">
            <a:avLst/>
          </a:prstGeom>
          <a:noFill/>
          <a:ln w="10160">
            <a:solidFill>
              <a:srgbClr val="D5DDE5"/>
            </a:solidFill>
            <a:prstDash val="solid"/>
          </a:ln>
        </p:spPr>
      </p:sp>
      <p:sp>
        <p:nvSpPr>
          <p:cNvPr id="29" name="Text 27"/>
          <p:cNvSpPr/>
          <p:nvPr/>
        </p:nvSpPr>
        <p:spPr>
          <a:xfrm>
            <a:off x="548640" y="6547104"/>
            <a:ext cx="5029200" cy="164592"/>
          </a:xfrm>
          <a:prstGeom prst="rect">
            <a:avLst/>
          </a:prstGeom>
          <a:noFill/>
          <a:ln/>
        </p:spPr>
        <p:txBody>
          <a:bodyPr wrap="square" lIns="0" tIns="0" rIns="0" bIns="0" rtlCol="0" anchor="ctr"/>
          <a:lstStyle/>
          <a:p>
            <a:pPr indent="0" marL="0">
              <a:buNone/>
            </a:pPr>
            <a:r>
              <a:rPr lang="en-US" sz="750" dirty="0">
                <a:solidFill>
                  <a:srgbClr val="64748B"/>
                </a:solidFill>
              </a:rPr>
              <a:t>OS Reliability in AI-Assisted Lean Visual Inspection</a:t>
            </a:r>
            <a:endParaRPr lang="en-US" sz="750" dirty="0"/>
          </a:p>
        </p:txBody>
      </p:sp>
      <p:sp>
        <p:nvSpPr>
          <p:cNvPr id="30" name="Text 28"/>
          <p:cNvSpPr/>
          <p:nvPr/>
        </p:nvSpPr>
        <p:spPr>
          <a:xfrm>
            <a:off x="10789920" y="6547104"/>
            <a:ext cx="822960" cy="164592"/>
          </a:xfrm>
          <a:prstGeom prst="rect">
            <a:avLst/>
          </a:prstGeom>
          <a:noFill/>
          <a:ln/>
        </p:spPr>
        <p:txBody>
          <a:bodyPr wrap="square" lIns="0" tIns="0" rIns="0" bIns="0" rtlCol="0" anchor="ctr"/>
          <a:lstStyle/>
          <a:p>
            <a:pPr algn="r" indent="0" marL="0">
              <a:buNone/>
            </a:pPr>
            <a:r>
              <a:rPr lang="en-US" sz="750" dirty="0">
                <a:solidFill>
                  <a:srgbClr val="64748B"/>
                </a:solidFill>
              </a:rPr>
              <a:t>Slide 7</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548640" y="502920"/>
            <a:ext cx="11064240" cy="0"/>
          </a:xfrm>
          <a:prstGeom prst="line">
            <a:avLst/>
          </a:prstGeom>
          <a:noFill/>
          <a:ln w="12700">
            <a:solidFill>
              <a:srgbClr val="D5DDE5"/>
            </a:solidFill>
            <a:prstDash val="solid"/>
          </a:ln>
        </p:spPr>
      </p:sp>
      <p:sp>
        <p:nvSpPr>
          <p:cNvPr id="3" name="Text 1"/>
          <p:cNvSpPr/>
          <p:nvPr/>
        </p:nvSpPr>
        <p:spPr>
          <a:xfrm>
            <a:off x="685800" y="685800"/>
            <a:ext cx="4389120" cy="201168"/>
          </a:xfrm>
          <a:prstGeom prst="rect">
            <a:avLst/>
          </a:prstGeom>
          <a:noFill/>
          <a:ln/>
        </p:spPr>
        <p:txBody>
          <a:bodyPr wrap="square" lIns="0" tIns="0" rIns="0" bIns="0" rtlCol="0" anchor="ctr"/>
          <a:lstStyle/>
          <a:p>
            <a:pPr indent="0" marL="0">
              <a:buNone/>
            </a:pPr>
            <a:r>
              <a:rPr lang="en-US" sz="850" b="1" dirty="0">
                <a:solidFill>
                  <a:srgbClr val="64748B"/>
                </a:solidFill>
              </a:rPr>
              <a:t>RESULTS</a:t>
            </a:r>
            <a:endParaRPr lang="en-US" sz="850" dirty="0"/>
          </a:p>
        </p:txBody>
      </p:sp>
      <p:sp>
        <p:nvSpPr>
          <p:cNvPr id="4" name="Text 2"/>
          <p:cNvSpPr/>
          <p:nvPr/>
        </p:nvSpPr>
        <p:spPr>
          <a:xfrm>
            <a:off x="685800" y="960120"/>
            <a:ext cx="10241280" cy="411480"/>
          </a:xfrm>
          <a:prstGeom prst="rect">
            <a:avLst/>
          </a:prstGeom>
          <a:noFill/>
          <a:ln/>
        </p:spPr>
        <p:txBody>
          <a:bodyPr wrap="square" lIns="0" tIns="0" rIns="0" bIns="0" rtlCol="0" anchor="ctr">
            <a:normAutofit/>
          </a:bodyP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Scheduling comparison</a:t>
            </a:r>
            <a:endParaRPr lang="en-US" sz="2500" dirty="0"/>
          </a:p>
        </p:txBody>
      </p:sp>
      <p:sp>
        <p:nvSpPr>
          <p:cNvPr id="5" name="Text 3"/>
          <p:cNvSpPr/>
          <p:nvPr/>
        </p:nvSpPr>
        <p:spPr>
          <a:xfrm>
            <a:off x="704088" y="1490472"/>
            <a:ext cx="9875520" cy="292608"/>
          </a:xfrm>
          <a:prstGeom prst="rect">
            <a:avLst/>
          </a:prstGeom>
          <a:noFill/>
          <a:ln/>
        </p:spPr>
        <p:txBody>
          <a:bodyPr wrap="square" lIns="0" tIns="0" rIns="0" bIns="0" rtlCol="0" anchor="ctr">
            <a:normAutofit/>
          </a:bodyPr>
          <a:lstStyle/>
          <a:p>
            <a:pPr indent="0" marL="0">
              <a:buNone/>
            </a:pPr>
            <a:r>
              <a:rPr lang="en-US" sz="1150" dirty="0">
                <a:solidFill>
                  <a:srgbClr val="64748B"/>
                </a:solidFill>
              </a:rPr>
              <a:t>Deadline misses and waiting time show why arrival-order scheduling is weak.</a:t>
            </a:r>
            <a:endParaRPr lang="en-US" sz="1150" dirty="0"/>
          </a:p>
        </p:txBody>
      </p:sp>
      <p:sp>
        <p:nvSpPr>
          <p:cNvPr id="6" name="Text 4"/>
          <p:cNvSpPr/>
          <p:nvPr/>
        </p:nvSpPr>
        <p:spPr>
          <a:xfrm>
            <a:off x="1874520" y="1965960"/>
            <a:ext cx="2651760" cy="182880"/>
          </a:xfrm>
          <a:prstGeom prst="rect">
            <a:avLst/>
          </a:prstGeom>
          <a:noFill/>
          <a:ln/>
        </p:spPr>
        <p:txBody>
          <a:bodyPr wrap="square" lIns="0" tIns="0" rIns="0" bIns="0" rtlCol="0" anchor="ctr"/>
          <a:lstStyle/>
          <a:p>
            <a:pPr algn="ctr" indent="0" marL="0">
              <a:buNone/>
            </a:pPr>
            <a:r>
              <a:rPr lang="en-US" sz="1130" b="1" dirty="0">
                <a:solidFill>
                  <a:srgbClr val="D64545"/>
                </a:solidFill>
              </a:rPr>
              <a:t>Missed deadlines</a:t>
            </a:r>
            <a:endParaRPr lang="en-US" sz="1130" dirty="0"/>
          </a:p>
        </p:txBody>
      </p:sp>
      <p:graphicFrame>
        <p:nvGraphicFramePr>
          <p:cNvPr id="7" name="Chart 0" descr=""/>
          <p:cNvGraphicFramePr/>
          <p:nvPr/>
        </p:nvGraphicFramePr>
        <p:xfrm>
          <a:off x="777240" y="2331720"/>
          <a:ext cx="4800600" cy="292608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7452360" y="1965960"/>
            <a:ext cx="2743200" cy="182880"/>
          </a:xfrm>
          <a:prstGeom prst="rect">
            <a:avLst/>
          </a:prstGeom>
          <a:noFill/>
          <a:ln/>
        </p:spPr>
        <p:txBody>
          <a:bodyPr wrap="square" lIns="0" tIns="0" rIns="0" bIns="0" rtlCol="0" anchor="ctr"/>
          <a:lstStyle/>
          <a:p>
            <a:pPr algn="ctr" indent="0" marL="0">
              <a:buNone/>
            </a:pPr>
            <a:r>
              <a:rPr lang="en-US" sz="1130" b="1" dirty="0">
                <a:solidFill>
                  <a:srgbClr val="2E6F9E"/>
                </a:solidFill>
              </a:rPr>
              <a:t>Average waiting time</a:t>
            </a:r>
            <a:endParaRPr lang="en-US" sz="1130" dirty="0"/>
          </a:p>
        </p:txBody>
      </p:sp>
      <p:graphicFrame>
        <p:nvGraphicFramePr>
          <p:cNvPr id="9" name="Chart 1" descr=""/>
          <p:cNvGraphicFramePr/>
          <p:nvPr/>
        </p:nvGraphicFramePr>
        <p:xfrm>
          <a:off x="6400800" y="2331720"/>
          <a:ext cx="4800600" cy="2926080"/>
        </p:xfrm>
        <a:graphic xmlns:a="http://schemas.openxmlformats.org/drawingml/2006/main">
          <a:graphicData uri="http://schemas.openxmlformats.org/drawingml/2006/chart">
            <c:chart xmlns:c="http://schemas.openxmlformats.org/drawingml/2006/chart" r:id="rId2"/>
          </a:graphicData>
        </a:graphic>
      </p:graphicFrame>
      <p:sp>
        <p:nvSpPr>
          <p:cNvPr id="10" name="Text 6"/>
          <p:cNvSpPr/>
          <p:nvPr/>
        </p:nvSpPr>
        <p:spPr>
          <a:xfrm>
            <a:off x="960120" y="5650992"/>
            <a:ext cx="10149840" cy="292608"/>
          </a:xfrm>
          <a:prstGeom prst="rect">
            <a:avLst/>
          </a:prstGeom>
          <a:noFill/>
          <a:ln/>
        </p:spPr>
        <p:txBody>
          <a:bodyPr wrap="square" lIns="254" tIns="254" rIns="254" bIns="254" rtlCol="0" anchor="t">
            <a:normAutofit/>
          </a:bodyPr>
          <a:lstStyle/>
          <a:p>
            <a:pPr indent="0" marL="0">
              <a:buNone/>
            </a:pPr>
            <a:r>
              <a:rPr lang="en-US" sz="1260" dirty="0">
                <a:solidFill>
                  <a:srgbClr val="1F2933"/>
                </a:solidFill>
              </a:rPr>
              <a:t>RMS performs well under periodic priorities; EDF is still the cleanest conceptual fit because deadlines are explicit.</a:t>
            </a:r>
            <a:endParaRPr lang="en-US" sz="1260" dirty="0"/>
          </a:p>
        </p:txBody>
      </p:sp>
      <p:sp>
        <p:nvSpPr>
          <p:cNvPr id="11" name="Shape 7"/>
          <p:cNvSpPr/>
          <p:nvPr/>
        </p:nvSpPr>
        <p:spPr>
          <a:xfrm>
            <a:off x="548640" y="6446520"/>
            <a:ext cx="11064240" cy="0"/>
          </a:xfrm>
          <a:prstGeom prst="line">
            <a:avLst/>
          </a:prstGeom>
          <a:noFill/>
          <a:ln w="10160">
            <a:solidFill>
              <a:srgbClr val="D5DDE5"/>
            </a:solidFill>
            <a:prstDash val="solid"/>
          </a:ln>
        </p:spPr>
      </p:sp>
      <p:sp>
        <p:nvSpPr>
          <p:cNvPr id="12" name="Text 8"/>
          <p:cNvSpPr/>
          <p:nvPr/>
        </p:nvSpPr>
        <p:spPr>
          <a:xfrm>
            <a:off x="548640" y="6547104"/>
            <a:ext cx="5029200" cy="164592"/>
          </a:xfrm>
          <a:prstGeom prst="rect">
            <a:avLst/>
          </a:prstGeom>
          <a:noFill/>
          <a:ln/>
        </p:spPr>
        <p:txBody>
          <a:bodyPr wrap="square" lIns="0" tIns="0" rIns="0" bIns="0" rtlCol="0" anchor="ctr"/>
          <a:lstStyle/>
          <a:p>
            <a:pPr indent="0" marL="0">
              <a:buNone/>
            </a:pPr>
            <a:r>
              <a:rPr lang="en-US" sz="750" dirty="0">
                <a:solidFill>
                  <a:srgbClr val="64748B"/>
                </a:solidFill>
              </a:rPr>
              <a:t>OS Reliability in AI-Assisted Lean Visual Inspection</a:t>
            </a:r>
            <a:endParaRPr lang="en-US" sz="750" dirty="0"/>
          </a:p>
        </p:txBody>
      </p:sp>
      <p:sp>
        <p:nvSpPr>
          <p:cNvPr id="13" name="Text 9"/>
          <p:cNvSpPr/>
          <p:nvPr/>
        </p:nvSpPr>
        <p:spPr>
          <a:xfrm>
            <a:off x="10789920" y="6547104"/>
            <a:ext cx="822960" cy="164592"/>
          </a:xfrm>
          <a:prstGeom prst="rect">
            <a:avLst/>
          </a:prstGeom>
          <a:noFill/>
          <a:ln/>
        </p:spPr>
        <p:txBody>
          <a:bodyPr wrap="square" lIns="0" tIns="0" rIns="0" bIns="0" rtlCol="0" anchor="ctr"/>
          <a:lstStyle/>
          <a:p>
            <a:pPr algn="r" indent="0" marL="0">
              <a:buNone/>
            </a:pPr>
            <a:r>
              <a:rPr lang="en-US" sz="750" dirty="0">
                <a:solidFill>
                  <a:srgbClr val="64748B"/>
                </a:solidFill>
              </a:rPr>
              <a:t>Slide 8</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548640" y="502920"/>
            <a:ext cx="11064240" cy="0"/>
          </a:xfrm>
          <a:prstGeom prst="line">
            <a:avLst/>
          </a:prstGeom>
          <a:noFill/>
          <a:ln w="12700">
            <a:solidFill>
              <a:srgbClr val="D5DDE5"/>
            </a:solidFill>
            <a:prstDash val="solid"/>
          </a:ln>
        </p:spPr>
      </p:sp>
      <p:sp>
        <p:nvSpPr>
          <p:cNvPr id="3" name="Text 1"/>
          <p:cNvSpPr/>
          <p:nvPr/>
        </p:nvSpPr>
        <p:spPr>
          <a:xfrm>
            <a:off x="685800" y="685800"/>
            <a:ext cx="4389120" cy="201168"/>
          </a:xfrm>
          <a:prstGeom prst="rect">
            <a:avLst/>
          </a:prstGeom>
          <a:noFill/>
          <a:ln/>
        </p:spPr>
        <p:txBody>
          <a:bodyPr wrap="square" lIns="0" tIns="0" rIns="0" bIns="0" rtlCol="0" anchor="ctr"/>
          <a:lstStyle/>
          <a:p>
            <a:pPr indent="0" marL="0">
              <a:buNone/>
            </a:pPr>
            <a:r>
              <a:rPr lang="en-US" sz="850" b="1" dirty="0">
                <a:solidFill>
                  <a:srgbClr val="64748B"/>
                </a:solidFill>
              </a:rPr>
              <a:t>RESULTS</a:t>
            </a:r>
            <a:endParaRPr lang="en-US" sz="850" dirty="0"/>
          </a:p>
        </p:txBody>
      </p:sp>
      <p:sp>
        <p:nvSpPr>
          <p:cNvPr id="4" name="Text 2"/>
          <p:cNvSpPr/>
          <p:nvPr/>
        </p:nvSpPr>
        <p:spPr>
          <a:xfrm>
            <a:off x="685800" y="960120"/>
            <a:ext cx="10241280" cy="411480"/>
          </a:xfrm>
          <a:prstGeom prst="rect">
            <a:avLst/>
          </a:prstGeom>
          <a:noFill/>
          <a:ln/>
        </p:spPr>
        <p:txBody>
          <a:bodyPr wrap="square" lIns="0" tIns="0" rIns="0" bIns="0" rtlCol="0" anchor="ctr">
            <a:normAutofit/>
          </a:bodyP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Race comparison: synchronization works</a:t>
            </a:r>
            <a:endParaRPr lang="en-US" sz="2500" dirty="0"/>
          </a:p>
        </p:txBody>
      </p:sp>
      <p:sp>
        <p:nvSpPr>
          <p:cNvPr id="5" name="Text 3"/>
          <p:cNvSpPr/>
          <p:nvPr/>
        </p:nvSpPr>
        <p:spPr>
          <a:xfrm>
            <a:off x="704088" y="1490472"/>
            <a:ext cx="9875520" cy="292608"/>
          </a:xfrm>
          <a:prstGeom prst="rect">
            <a:avLst/>
          </a:prstGeom>
          <a:noFill/>
          <a:ln/>
        </p:spPr>
        <p:txBody>
          <a:bodyPr wrap="square" lIns="0" tIns="0" rIns="0" bIns="0" rtlCol="0" anchor="ctr">
            <a:normAutofit/>
          </a:bodyPr>
          <a:lstStyle/>
          <a:p>
            <a:pPr indent="0" marL="0">
              <a:buNone/>
            </a:pPr>
            <a:r>
              <a:rPr lang="en-US" sz="1150" dirty="0">
                <a:solidFill>
                  <a:srgbClr val="64748B"/>
                </a:solidFill>
              </a:rPr>
              <a:t>Safe mode collapses race events to zero.</a:t>
            </a:r>
            <a:endParaRPr lang="en-US" sz="1150" dirty="0"/>
          </a:p>
        </p:txBody>
      </p:sp>
      <p:graphicFrame>
        <p:nvGraphicFramePr>
          <p:cNvPr id="6" name="Chart 0" descr=""/>
          <p:cNvGraphicFramePr/>
          <p:nvPr/>
        </p:nvGraphicFramePr>
        <p:xfrm>
          <a:off x="868680" y="2148840"/>
          <a:ext cx="4937760" cy="31546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400800" y="2331720"/>
            <a:ext cx="1828800" cy="502920"/>
          </a:xfrm>
          <a:prstGeom prst="roundRect">
            <a:avLst>
              <a:gd name="adj" fmla="val 12727"/>
            </a:avLst>
          </a:prstGeom>
          <a:solidFill>
            <a:srgbClr val="FFF3F3"/>
          </a:solidFill>
          <a:ln w="12700">
            <a:solidFill>
              <a:srgbClr val="D64545"/>
            </a:solidFill>
            <a:prstDash val="solid"/>
          </a:ln>
        </p:spPr>
      </p:sp>
      <p:sp>
        <p:nvSpPr>
          <p:cNvPr id="8" name="Text 5"/>
          <p:cNvSpPr/>
          <p:nvPr/>
        </p:nvSpPr>
        <p:spPr>
          <a:xfrm>
            <a:off x="6464808" y="2395728"/>
            <a:ext cx="1700784" cy="374904"/>
          </a:xfrm>
          <a:prstGeom prst="rect">
            <a:avLst/>
          </a:prstGeom>
          <a:noFill/>
          <a:ln/>
        </p:spPr>
        <p:txBody>
          <a:bodyPr wrap="square" lIns="0" tIns="0" rIns="0" bIns="0" rtlCol="0" anchor="ctr">
            <a:normAutofit/>
          </a:bodyPr>
          <a:lstStyle/>
          <a:p>
            <a:pPr algn="ctr" indent="0" marL="0">
              <a:buNone/>
            </a:pPr>
            <a:r>
              <a:rPr lang="en-US" sz="1130" b="1" dirty="0">
                <a:solidFill>
                  <a:srgbClr val="D64545"/>
                </a:solidFill>
              </a:rPr>
              <a:t>Unsafe mode</a:t>
            </a:r>
            <a:endParaRPr lang="en-US" sz="1130" dirty="0"/>
          </a:p>
        </p:txBody>
      </p:sp>
      <p:sp>
        <p:nvSpPr>
          <p:cNvPr id="9" name="Text 6"/>
          <p:cNvSpPr/>
          <p:nvPr/>
        </p:nvSpPr>
        <p:spPr>
          <a:xfrm>
            <a:off x="8549640" y="2377440"/>
            <a:ext cx="2468880" cy="457200"/>
          </a:xfrm>
          <a:prstGeom prst="rect">
            <a:avLst/>
          </a:prstGeom>
          <a:noFill/>
          <a:ln/>
        </p:spPr>
        <p:txBody>
          <a:bodyPr wrap="square" lIns="254" tIns="254" rIns="254" bIns="254" rtlCol="0" anchor="t">
            <a:normAutofit/>
          </a:bodyPr>
          <a:lstStyle/>
          <a:p>
            <a:pPr indent="0" marL="0">
              <a:buNone/>
            </a:pPr>
            <a:r>
              <a:rPr lang="en-US" sz="1180" dirty="0">
                <a:solidFill>
                  <a:srgbClr val="1F2933"/>
                </a:solidFill>
              </a:rPr>
              <a:t>Global current_product_id is mutable. AI result can attach to the wrong product.</a:t>
            </a:r>
            <a:endParaRPr lang="en-US" sz="1180" dirty="0"/>
          </a:p>
        </p:txBody>
      </p:sp>
      <p:sp>
        <p:nvSpPr>
          <p:cNvPr id="10" name="Shape 7"/>
          <p:cNvSpPr/>
          <p:nvPr/>
        </p:nvSpPr>
        <p:spPr>
          <a:xfrm>
            <a:off x="6400800" y="3703320"/>
            <a:ext cx="1828800" cy="502920"/>
          </a:xfrm>
          <a:prstGeom prst="roundRect">
            <a:avLst>
              <a:gd name="adj" fmla="val 12727"/>
            </a:avLst>
          </a:prstGeom>
          <a:solidFill>
            <a:srgbClr val="EFFAF4"/>
          </a:solidFill>
          <a:ln w="12700">
            <a:solidFill>
              <a:srgbClr val="2E7D5B"/>
            </a:solidFill>
            <a:prstDash val="solid"/>
          </a:ln>
        </p:spPr>
      </p:sp>
      <p:sp>
        <p:nvSpPr>
          <p:cNvPr id="11" name="Text 8"/>
          <p:cNvSpPr/>
          <p:nvPr/>
        </p:nvSpPr>
        <p:spPr>
          <a:xfrm>
            <a:off x="6464808" y="3767328"/>
            <a:ext cx="1700784" cy="374904"/>
          </a:xfrm>
          <a:prstGeom prst="rect">
            <a:avLst/>
          </a:prstGeom>
          <a:noFill/>
          <a:ln/>
        </p:spPr>
        <p:txBody>
          <a:bodyPr wrap="square" lIns="0" tIns="0" rIns="0" bIns="0" rtlCol="0" anchor="ctr">
            <a:normAutofit/>
          </a:bodyPr>
          <a:lstStyle/>
          <a:p>
            <a:pPr algn="ctr" indent="0" marL="0">
              <a:buNone/>
            </a:pPr>
            <a:r>
              <a:rPr lang="en-US" sz="1130" b="1" dirty="0">
                <a:solidFill>
                  <a:srgbClr val="2E7D5B"/>
                </a:solidFill>
              </a:rPr>
              <a:t>Safe mode</a:t>
            </a:r>
            <a:endParaRPr lang="en-US" sz="1130" dirty="0"/>
          </a:p>
        </p:txBody>
      </p:sp>
      <p:sp>
        <p:nvSpPr>
          <p:cNvPr id="12" name="Text 9"/>
          <p:cNvSpPr/>
          <p:nvPr/>
        </p:nvSpPr>
        <p:spPr>
          <a:xfrm>
            <a:off x="8549640" y="3749040"/>
            <a:ext cx="2468880" cy="457200"/>
          </a:xfrm>
          <a:prstGeom prst="rect">
            <a:avLst/>
          </a:prstGeom>
          <a:noFill/>
          <a:ln/>
        </p:spPr>
        <p:txBody>
          <a:bodyPr wrap="square" lIns="254" tIns="254" rIns="254" bIns="254" rtlCol="0" anchor="t">
            <a:normAutofit/>
          </a:bodyPr>
          <a:lstStyle/>
          <a:p>
            <a:pPr indent="0" marL="0">
              <a:buNone/>
            </a:pPr>
            <a:r>
              <a:rPr lang="en-US" sz="1180" dirty="0">
                <a:solidFill>
                  <a:srgbClr val="1F2933"/>
                </a:solidFill>
              </a:rPr>
              <a:t>ProductPacket carries identity through queues. The mapping is preserved.</a:t>
            </a:r>
            <a:endParaRPr lang="en-US" sz="1180" dirty="0"/>
          </a:p>
        </p:txBody>
      </p:sp>
      <p:sp>
        <p:nvSpPr>
          <p:cNvPr id="13" name="Text 10"/>
          <p:cNvSpPr/>
          <p:nvPr/>
        </p:nvSpPr>
        <p:spPr>
          <a:xfrm>
            <a:off x="6492240" y="5074920"/>
            <a:ext cx="4572000" cy="329184"/>
          </a:xfrm>
          <a:prstGeom prst="rect">
            <a:avLst/>
          </a:prstGeom>
          <a:noFill/>
          <a:ln/>
        </p:spPr>
        <p:txBody>
          <a:bodyPr wrap="square" lIns="254" tIns="254" rIns="254" bIns="254" rtlCol="0" anchor="t">
            <a:normAutofit/>
          </a:bodyPr>
          <a:lstStyle/>
          <a:p>
            <a:pPr indent="0" marL="0">
              <a:buNone/>
            </a:pPr>
            <a:r>
              <a:rPr lang="en-US" sz="1350" dirty="0">
                <a:solidFill>
                  <a:srgbClr val="1F2933"/>
                </a:solidFill>
              </a:rPr>
              <a:t>OS lesson: the fix is synchronization, not a more complex inspection model.</a:t>
            </a:r>
            <a:endParaRPr lang="en-US" sz="1350" dirty="0"/>
          </a:p>
        </p:txBody>
      </p:sp>
      <p:sp>
        <p:nvSpPr>
          <p:cNvPr id="14" name="Shape 11"/>
          <p:cNvSpPr/>
          <p:nvPr/>
        </p:nvSpPr>
        <p:spPr>
          <a:xfrm>
            <a:off x="548640" y="6446520"/>
            <a:ext cx="11064240" cy="0"/>
          </a:xfrm>
          <a:prstGeom prst="line">
            <a:avLst/>
          </a:prstGeom>
          <a:noFill/>
          <a:ln w="10160">
            <a:solidFill>
              <a:srgbClr val="D5DDE5"/>
            </a:solidFill>
            <a:prstDash val="solid"/>
          </a:ln>
        </p:spPr>
      </p:sp>
      <p:sp>
        <p:nvSpPr>
          <p:cNvPr id="15" name="Text 12"/>
          <p:cNvSpPr/>
          <p:nvPr/>
        </p:nvSpPr>
        <p:spPr>
          <a:xfrm>
            <a:off x="548640" y="6547104"/>
            <a:ext cx="5029200" cy="164592"/>
          </a:xfrm>
          <a:prstGeom prst="rect">
            <a:avLst/>
          </a:prstGeom>
          <a:noFill/>
          <a:ln/>
        </p:spPr>
        <p:txBody>
          <a:bodyPr wrap="square" lIns="0" tIns="0" rIns="0" bIns="0" rtlCol="0" anchor="ctr"/>
          <a:lstStyle/>
          <a:p>
            <a:pPr indent="0" marL="0">
              <a:buNone/>
            </a:pPr>
            <a:r>
              <a:rPr lang="en-US" sz="750" dirty="0">
                <a:solidFill>
                  <a:srgbClr val="64748B"/>
                </a:solidFill>
              </a:rPr>
              <a:t>OS Reliability in AI-Assisted Lean Visual Inspection</a:t>
            </a:r>
            <a:endParaRPr lang="en-US" sz="750" dirty="0"/>
          </a:p>
        </p:txBody>
      </p:sp>
      <p:sp>
        <p:nvSpPr>
          <p:cNvPr id="16" name="Text 13"/>
          <p:cNvSpPr/>
          <p:nvPr/>
        </p:nvSpPr>
        <p:spPr>
          <a:xfrm>
            <a:off x="10789920" y="6547104"/>
            <a:ext cx="822960" cy="164592"/>
          </a:xfrm>
          <a:prstGeom prst="rect">
            <a:avLst/>
          </a:prstGeom>
          <a:noFill/>
          <a:ln/>
        </p:spPr>
        <p:txBody>
          <a:bodyPr wrap="square" lIns="0" tIns="0" rIns="0" bIns="0" rtlCol="0" anchor="ctr"/>
          <a:lstStyle/>
          <a:p>
            <a:pPr algn="r" indent="0" marL="0">
              <a:buNone/>
            </a:pPr>
            <a:r>
              <a:rPr lang="en-US" sz="750" dirty="0">
                <a:solidFill>
                  <a:srgbClr val="64748B"/>
                </a:solidFill>
              </a:rPr>
              <a:t>Slide 9</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548640" y="502920"/>
            <a:ext cx="11064240" cy="0"/>
          </a:xfrm>
          <a:prstGeom prst="line">
            <a:avLst/>
          </a:prstGeom>
          <a:noFill/>
          <a:ln w="12700">
            <a:solidFill>
              <a:srgbClr val="D5DDE5"/>
            </a:solidFill>
            <a:prstDash val="solid"/>
          </a:ln>
        </p:spPr>
      </p:sp>
      <p:sp>
        <p:nvSpPr>
          <p:cNvPr id="3" name="Text 1"/>
          <p:cNvSpPr/>
          <p:nvPr/>
        </p:nvSpPr>
        <p:spPr>
          <a:xfrm>
            <a:off x="685800" y="685800"/>
            <a:ext cx="4389120" cy="201168"/>
          </a:xfrm>
          <a:prstGeom prst="rect">
            <a:avLst/>
          </a:prstGeom>
          <a:noFill/>
          <a:ln/>
        </p:spPr>
        <p:txBody>
          <a:bodyPr wrap="square" lIns="0" tIns="0" rIns="0" bIns="0" rtlCol="0" anchor="ctr"/>
          <a:lstStyle/>
          <a:p>
            <a:pPr indent="0" marL="0">
              <a:buNone/>
            </a:pPr>
            <a:r>
              <a:rPr lang="en-US" sz="850" b="1" dirty="0">
                <a:solidFill>
                  <a:srgbClr val="64748B"/>
                </a:solidFill>
              </a:rPr>
              <a:t>SOFTWARE ARTIFACT</a:t>
            </a:r>
            <a:endParaRPr lang="en-US" sz="850" dirty="0"/>
          </a:p>
        </p:txBody>
      </p:sp>
      <p:sp>
        <p:nvSpPr>
          <p:cNvPr id="4" name="Text 2"/>
          <p:cNvSpPr/>
          <p:nvPr/>
        </p:nvSpPr>
        <p:spPr>
          <a:xfrm>
            <a:off x="685800" y="960120"/>
            <a:ext cx="10241280" cy="411480"/>
          </a:xfrm>
          <a:prstGeom prst="rect">
            <a:avLst/>
          </a:prstGeom>
          <a:noFill/>
          <a:ln/>
        </p:spPr>
        <p:txBody>
          <a:bodyPr wrap="square" lIns="0" tIns="0" rIns="0" bIns="0" rtlCol="0" anchor="ctr">
            <a:normAutofit/>
          </a:bodyP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Backend simulation pipeline</a:t>
            </a:r>
            <a:endParaRPr lang="en-US" sz="2500" dirty="0"/>
          </a:p>
        </p:txBody>
      </p:sp>
      <p:sp>
        <p:nvSpPr>
          <p:cNvPr id="5" name="Text 3"/>
          <p:cNvSpPr/>
          <p:nvPr/>
        </p:nvSpPr>
        <p:spPr>
          <a:xfrm>
            <a:off x="704088" y="1490472"/>
            <a:ext cx="9875520" cy="292608"/>
          </a:xfrm>
          <a:prstGeom prst="rect">
            <a:avLst/>
          </a:prstGeom>
          <a:noFill/>
          <a:ln/>
        </p:spPr>
        <p:txBody>
          <a:bodyPr wrap="square" lIns="0" tIns="0" rIns="0" bIns="0" rtlCol="0" anchor="ctr">
            <a:normAutofit/>
          </a:bodyPr>
          <a:lstStyle/>
          <a:p>
            <a:pPr indent="0" marL="0">
              <a:buNone/>
            </a:pPr>
            <a:r>
              <a:rPr lang="en-US" sz="1150" dirty="0">
                <a:solidFill>
                  <a:srgbClr val="64748B"/>
                </a:solidFill>
              </a:rPr>
              <a:t>Modular, replayable, and ready for digital-twin visualization.</a:t>
            </a:r>
            <a:endParaRPr lang="en-US" sz="1150" dirty="0"/>
          </a:p>
        </p:txBody>
      </p:sp>
      <p:sp>
        <p:nvSpPr>
          <p:cNvPr id="6" name="Shape 4"/>
          <p:cNvSpPr/>
          <p:nvPr/>
        </p:nvSpPr>
        <p:spPr>
          <a:xfrm>
            <a:off x="2560320" y="3090672"/>
            <a:ext cx="320040" cy="0"/>
          </a:xfrm>
          <a:prstGeom prst="line">
            <a:avLst/>
          </a:prstGeom>
          <a:noFill/>
          <a:ln w="16510">
            <a:solidFill>
              <a:srgbClr val="2E6F9E"/>
            </a:solidFill>
            <a:prstDash val="solid"/>
            <a:tailEnd type="triangle"/>
          </a:ln>
        </p:spPr>
      </p:sp>
      <p:sp>
        <p:nvSpPr>
          <p:cNvPr id="7" name="Shape 5"/>
          <p:cNvSpPr/>
          <p:nvPr/>
        </p:nvSpPr>
        <p:spPr>
          <a:xfrm>
            <a:off x="4663440" y="3090672"/>
            <a:ext cx="320040" cy="0"/>
          </a:xfrm>
          <a:prstGeom prst="line">
            <a:avLst/>
          </a:prstGeom>
          <a:noFill/>
          <a:ln w="16510">
            <a:solidFill>
              <a:srgbClr val="2E6F9E"/>
            </a:solidFill>
            <a:prstDash val="solid"/>
            <a:tailEnd type="triangle"/>
          </a:ln>
        </p:spPr>
      </p:sp>
      <p:sp>
        <p:nvSpPr>
          <p:cNvPr id="8" name="Shape 6"/>
          <p:cNvSpPr/>
          <p:nvPr/>
        </p:nvSpPr>
        <p:spPr>
          <a:xfrm>
            <a:off x="6766560" y="3090672"/>
            <a:ext cx="320040" cy="0"/>
          </a:xfrm>
          <a:prstGeom prst="line">
            <a:avLst/>
          </a:prstGeom>
          <a:noFill/>
          <a:ln w="16510">
            <a:solidFill>
              <a:srgbClr val="2E6F9E"/>
            </a:solidFill>
            <a:prstDash val="solid"/>
            <a:tailEnd type="triangle"/>
          </a:ln>
        </p:spPr>
      </p:sp>
      <p:sp>
        <p:nvSpPr>
          <p:cNvPr id="9" name="Shape 7"/>
          <p:cNvSpPr/>
          <p:nvPr/>
        </p:nvSpPr>
        <p:spPr>
          <a:xfrm>
            <a:off x="8869680" y="3090672"/>
            <a:ext cx="320040" cy="0"/>
          </a:xfrm>
          <a:prstGeom prst="line">
            <a:avLst/>
          </a:prstGeom>
          <a:noFill/>
          <a:ln w="16510">
            <a:solidFill>
              <a:srgbClr val="2E6F9E"/>
            </a:solidFill>
            <a:prstDash val="solid"/>
            <a:tailEnd type="triangle"/>
          </a:ln>
        </p:spPr>
      </p:sp>
      <p:sp>
        <p:nvSpPr>
          <p:cNvPr id="10" name="Shape 8"/>
          <p:cNvSpPr/>
          <p:nvPr/>
        </p:nvSpPr>
        <p:spPr>
          <a:xfrm>
            <a:off x="777240" y="2743200"/>
            <a:ext cx="1783080" cy="640080"/>
          </a:xfrm>
          <a:prstGeom prst="roundRect">
            <a:avLst>
              <a:gd name="adj" fmla="val 10000"/>
            </a:avLst>
          </a:prstGeom>
          <a:solidFill>
            <a:srgbClr val="FFFFFF"/>
          </a:solidFill>
          <a:ln w="12700">
            <a:solidFill>
              <a:srgbClr val="D5DDE5"/>
            </a:solidFill>
            <a:prstDash val="solid"/>
          </a:ln>
        </p:spPr>
      </p:sp>
      <p:sp>
        <p:nvSpPr>
          <p:cNvPr id="11" name="Text 9"/>
          <p:cNvSpPr/>
          <p:nvPr/>
        </p:nvSpPr>
        <p:spPr>
          <a:xfrm>
            <a:off x="841248" y="2807208"/>
            <a:ext cx="1655064" cy="512064"/>
          </a:xfrm>
          <a:prstGeom prst="rect">
            <a:avLst/>
          </a:prstGeom>
          <a:noFill/>
          <a:ln/>
        </p:spPr>
        <p:txBody>
          <a:bodyPr wrap="square" lIns="0" tIns="0" rIns="0" bIns="0" rtlCol="0" anchor="ctr">
            <a:normAutofit/>
          </a:bodyPr>
          <a:lstStyle/>
          <a:p>
            <a:pPr algn="ctr" indent="0" marL="0">
              <a:buNone/>
            </a:pPr>
            <a:r>
              <a:rPr lang="en-US" sz="1100" b="1" dirty="0">
                <a:solidFill>
                  <a:srgbClr val="1F2933"/>
                </a:solidFill>
              </a:rPr>
              <a:t>Race model</a:t>
            </a:r>
            <a:endParaRPr lang="en-US" sz="1100" dirty="0"/>
          </a:p>
        </p:txBody>
      </p:sp>
      <p:sp>
        <p:nvSpPr>
          <p:cNvPr id="12" name="Text 10"/>
          <p:cNvSpPr/>
          <p:nvPr/>
        </p:nvSpPr>
        <p:spPr>
          <a:xfrm>
            <a:off x="777240" y="3493008"/>
            <a:ext cx="1783080" cy="146304"/>
          </a:xfrm>
          <a:prstGeom prst="rect">
            <a:avLst/>
          </a:prstGeom>
          <a:noFill/>
          <a:ln/>
        </p:spPr>
        <p:txBody>
          <a:bodyPr wrap="square" lIns="0" tIns="0" rIns="0" bIns="0" rtlCol="0" anchor="ctr"/>
          <a:lstStyle/>
          <a:p>
            <a:pPr algn="ctr" indent="0" marL="0">
              <a:buNone/>
            </a:pPr>
            <a:r>
              <a:rPr lang="en-US" sz="820" dirty="0">
                <a:solidFill>
                  <a:srgbClr val="64748B"/>
                </a:solidFill>
              </a:rPr>
              <a:t>unsafe events</a:t>
            </a:r>
            <a:endParaRPr lang="en-US" sz="820" dirty="0"/>
          </a:p>
        </p:txBody>
      </p:sp>
      <p:sp>
        <p:nvSpPr>
          <p:cNvPr id="13" name="Shape 11"/>
          <p:cNvSpPr/>
          <p:nvPr/>
        </p:nvSpPr>
        <p:spPr>
          <a:xfrm>
            <a:off x="2880360" y="2743200"/>
            <a:ext cx="1783080" cy="640080"/>
          </a:xfrm>
          <a:prstGeom prst="roundRect">
            <a:avLst>
              <a:gd name="adj" fmla="val 10000"/>
            </a:avLst>
          </a:prstGeom>
          <a:solidFill>
            <a:srgbClr val="FFFFFF"/>
          </a:solidFill>
          <a:ln w="12700">
            <a:solidFill>
              <a:srgbClr val="D5DDE5"/>
            </a:solidFill>
            <a:prstDash val="solid"/>
          </a:ln>
        </p:spPr>
      </p:sp>
      <p:sp>
        <p:nvSpPr>
          <p:cNvPr id="14" name="Text 12"/>
          <p:cNvSpPr/>
          <p:nvPr/>
        </p:nvSpPr>
        <p:spPr>
          <a:xfrm>
            <a:off x="2944368" y="2807208"/>
            <a:ext cx="1655064" cy="512064"/>
          </a:xfrm>
          <a:prstGeom prst="rect">
            <a:avLst/>
          </a:prstGeom>
          <a:noFill/>
          <a:ln/>
        </p:spPr>
        <p:txBody>
          <a:bodyPr wrap="square" lIns="0" tIns="0" rIns="0" bIns="0" rtlCol="0" anchor="ctr">
            <a:normAutofit/>
          </a:bodyPr>
          <a:lstStyle/>
          <a:p>
            <a:pPr algn="ctr" indent="0" marL="0">
              <a:buNone/>
            </a:pPr>
            <a:r>
              <a:rPr lang="en-US" sz="1100" b="1" dirty="0">
                <a:solidFill>
                  <a:srgbClr val="1F2933"/>
                </a:solidFill>
              </a:rPr>
              <a:t>Safe pipeline</a:t>
            </a:r>
            <a:endParaRPr lang="en-US" sz="1100" dirty="0"/>
          </a:p>
        </p:txBody>
      </p:sp>
      <p:sp>
        <p:nvSpPr>
          <p:cNvPr id="15" name="Text 13"/>
          <p:cNvSpPr/>
          <p:nvPr/>
        </p:nvSpPr>
        <p:spPr>
          <a:xfrm>
            <a:off x="2880360" y="3493008"/>
            <a:ext cx="1783080" cy="146304"/>
          </a:xfrm>
          <a:prstGeom prst="rect">
            <a:avLst/>
          </a:prstGeom>
          <a:noFill/>
          <a:ln/>
        </p:spPr>
        <p:txBody>
          <a:bodyPr wrap="square" lIns="0" tIns="0" rIns="0" bIns="0" rtlCol="0" anchor="ctr"/>
          <a:lstStyle/>
          <a:p>
            <a:pPr algn="ctr" indent="0" marL="0">
              <a:buNone/>
            </a:pPr>
            <a:r>
              <a:rPr lang="en-US" sz="820" dirty="0">
                <a:solidFill>
                  <a:srgbClr val="64748B"/>
                </a:solidFill>
              </a:rPr>
              <a:t>queues</a:t>
            </a:r>
            <a:endParaRPr lang="en-US" sz="820" dirty="0"/>
          </a:p>
        </p:txBody>
      </p:sp>
      <p:sp>
        <p:nvSpPr>
          <p:cNvPr id="16" name="Shape 14"/>
          <p:cNvSpPr/>
          <p:nvPr/>
        </p:nvSpPr>
        <p:spPr>
          <a:xfrm>
            <a:off x="4983480" y="2743200"/>
            <a:ext cx="1783080" cy="640080"/>
          </a:xfrm>
          <a:prstGeom prst="roundRect">
            <a:avLst>
              <a:gd name="adj" fmla="val 10000"/>
            </a:avLst>
          </a:prstGeom>
          <a:solidFill>
            <a:srgbClr val="FFFFFF"/>
          </a:solidFill>
          <a:ln w="12700">
            <a:solidFill>
              <a:srgbClr val="D5DDE5"/>
            </a:solidFill>
            <a:prstDash val="solid"/>
          </a:ln>
        </p:spPr>
      </p:sp>
      <p:sp>
        <p:nvSpPr>
          <p:cNvPr id="17" name="Text 15"/>
          <p:cNvSpPr/>
          <p:nvPr/>
        </p:nvSpPr>
        <p:spPr>
          <a:xfrm>
            <a:off x="5047488" y="2807208"/>
            <a:ext cx="1655064" cy="512064"/>
          </a:xfrm>
          <a:prstGeom prst="rect">
            <a:avLst/>
          </a:prstGeom>
          <a:noFill/>
          <a:ln/>
        </p:spPr>
        <p:txBody>
          <a:bodyPr wrap="square" lIns="0" tIns="0" rIns="0" bIns="0" rtlCol="0" anchor="ctr">
            <a:normAutofit/>
          </a:bodyPr>
          <a:lstStyle/>
          <a:p>
            <a:pPr algn="ctr" indent="0" marL="0">
              <a:buNone/>
            </a:pPr>
            <a:r>
              <a:rPr lang="en-US" sz="1100" b="1" dirty="0">
                <a:solidFill>
                  <a:srgbClr val="1F2933"/>
                </a:solidFill>
              </a:rPr>
              <a:t>Schedulers</a:t>
            </a:r>
            <a:endParaRPr lang="en-US" sz="1100" dirty="0"/>
          </a:p>
        </p:txBody>
      </p:sp>
      <p:sp>
        <p:nvSpPr>
          <p:cNvPr id="18" name="Text 16"/>
          <p:cNvSpPr/>
          <p:nvPr/>
        </p:nvSpPr>
        <p:spPr>
          <a:xfrm>
            <a:off x="4983480" y="3493008"/>
            <a:ext cx="1783080" cy="146304"/>
          </a:xfrm>
          <a:prstGeom prst="rect">
            <a:avLst/>
          </a:prstGeom>
          <a:noFill/>
          <a:ln/>
        </p:spPr>
        <p:txBody>
          <a:bodyPr wrap="square" lIns="0" tIns="0" rIns="0" bIns="0" rtlCol="0" anchor="ctr"/>
          <a:lstStyle/>
          <a:p>
            <a:pPr algn="ctr" indent="0" marL="0">
              <a:buNone/>
            </a:pPr>
            <a:r>
              <a:rPr lang="en-US" sz="820" dirty="0">
                <a:solidFill>
                  <a:srgbClr val="64748B"/>
                </a:solidFill>
              </a:rPr>
              <a:t>EDF/RMS/etc.</a:t>
            </a:r>
            <a:endParaRPr lang="en-US" sz="820" dirty="0"/>
          </a:p>
        </p:txBody>
      </p:sp>
      <p:sp>
        <p:nvSpPr>
          <p:cNvPr id="19" name="Shape 17"/>
          <p:cNvSpPr/>
          <p:nvPr/>
        </p:nvSpPr>
        <p:spPr>
          <a:xfrm>
            <a:off x="7086600" y="2743200"/>
            <a:ext cx="1783080" cy="640080"/>
          </a:xfrm>
          <a:prstGeom prst="roundRect">
            <a:avLst>
              <a:gd name="adj" fmla="val 10000"/>
            </a:avLst>
          </a:prstGeom>
          <a:solidFill>
            <a:srgbClr val="EAF4FA"/>
          </a:solidFill>
          <a:ln w="12700">
            <a:solidFill>
              <a:srgbClr val="2E6F9E"/>
            </a:solidFill>
            <a:prstDash val="solid"/>
          </a:ln>
        </p:spPr>
      </p:sp>
      <p:sp>
        <p:nvSpPr>
          <p:cNvPr id="20" name="Text 18"/>
          <p:cNvSpPr/>
          <p:nvPr/>
        </p:nvSpPr>
        <p:spPr>
          <a:xfrm>
            <a:off x="7150608" y="2807208"/>
            <a:ext cx="1655064" cy="512064"/>
          </a:xfrm>
          <a:prstGeom prst="rect">
            <a:avLst/>
          </a:prstGeom>
          <a:noFill/>
          <a:ln/>
        </p:spPr>
        <p:txBody>
          <a:bodyPr wrap="square" lIns="0" tIns="0" rIns="0" bIns="0" rtlCol="0" anchor="ctr">
            <a:normAutofit/>
          </a:bodyPr>
          <a:lstStyle/>
          <a:p>
            <a:pPr algn="ctr" indent="0" marL="0">
              <a:buNone/>
            </a:pPr>
            <a:r>
              <a:rPr lang="en-US" sz="1100" b="1" dirty="0">
                <a:solidFill>
                  <a:srgbClr val="1F2933"/>
                </a:solidFill>
              </a:rPr>
              <a:t>Exporter</a:t>
            </a:r>
            <a:endParaRPr lang="en-US" sz="1100" dirty="0"/>
          </a:p>
        </p:txBody>
      </p:sp>
      <p:sp>
        <p:nvSpPr>
          <p:cNvPr id="21" name="Text 19"/>
          <p:cNvSpPr/>
          <p:nvPr/>
        </p:nvSpPr>
        <p:spPr>
          <a:xfrm>
            <a:off x="7086600" y="3493008"/>
            <a:ext cx="1783080" cy="146304"/>
          </a:xfrm>
          <a:prstGeom prst="rect">
            <a:avLst/>
          </a:prstGeom>
          <a:noFill/>
          <a:ln/>
        </p:spPr>
        <p:txBody>
          <a:bodyPr wrap="square" lIns="0" tIns="0" rIns="0" bIns="0" rtlCol="0" anchor="ctr"/>
          <a:lstStyle/>
          <a:p>
            <a:pPr algn="ctr" indent="0" marL="0">
              <a:buNone/>
            </a:pPr>
            <a:r>
              <a:rPr lang="en-US" sz="820" dirty="0">
                <a:solidFill>
                  <a:srgbClr val="64748B"/>
                </a:solidFill>
              </a:rPr>
              <a:t>JSON/CSV</a:t>
            </a:r>
            <a:endParaRPr lang="en-US" sz="820" dirty="0"/>
          </a:p>
        </p:txBody>
      </p:sp>
      <p:sp>
        <p:nvSpPr>
          <p:cNvPr id="22" name="Shape 20"/>
          <p:cNvSpPr/>
          <p:nvPr/>
        </p:nvSpPr>
        <p:spPr>
          <a:xfrm>
            <a:off x="9189720" y="2743200"/>
            <a:ext cx="1783080" cy="640080"/>
          </a:xfrm>
          <a:prstGeom prst="roundRect">
            <a:avLst>
              <a:gd name="adj" fmla="val 10000"/>
            </a:avLst>
          </a:prstGeom>
          <a:solidFill>
            <a:srgbClr val="FFFFFF"/>
          </a:solidFill>
          <a:ln w="12700">
            <a:solidFill>
              <a:srgbClr val="D5DDE5"/>
            </a:solidFill>
            <a:prstDash val="solid"/>
          </a:ln>
        </p:spPr>
      </p:sp>
      <p:sp>
        <p:nvSpPr>
          <p:cNvPr id="23" name="Text 21"/>
          <p:cNvSpPr/>
          <p:nvPr/>
        </p:nvSpPr>
        <p:spPr>
          <a:xfrm>
            <a:off x="9253728" y="2807208"/>
            <a:ext cx="1655064" cy="512064"/>
          </a:xfrm>
          <a:prstGeom prst="rect">
            <a:avLst/>
          </a:prstGeom>
          <a:noFill/>
          <a:ln/>
        </p:spPr>
        <p:txBody>
          <a:bodyPr wrap="square" lIns="0" tIns="0" rIns="0" bIns="0" rtlCol="0" anchor="ctr">
            <a:normAutofit/>
          </a:bodyPr>
          <a:lstStyle/>
          <a:p>
            <a:pPr algn="ctr" indent="0" marL="0">
              <a:buNone/>
            </a:pPr>
            <a:r>
              <a:rPr lang="en-US" sz="1100" b="1" dirty="0">
                <a:solidFill>
                  <a:srgbClr val="1F2933"/>
                </a:solidFill>
              </a:rPr>
              <a:t>Preview</a:t>
            </a:r>
            <a:endParaRPr lang="en-US" sz="1100" dirty="0"/>
          </a:p>
        </p:txBody>
      </p:sp>
      <p:sp>
        <p:nvSpPr>
          <p:cNvPr id="24" name="Text 22"/>
          <p:cNvSpPr/>
          <p:nvPr/>
        </p:nvSpPr>
        <p:spPr>
          <a:xfrm>
            <a:off x="9189720" y="3493008"/>
            <a:ext cx="1783080" cy="146304"/>
          </a:xfrm>
          <a:prstGeom prst="rect">
            <a:avLst/>
          </a:prstGeom>
          <a:noFill/>
          <a:ln/>
        </p:spPr>
        <p:txBody>
          <a:bodyPr wrap="square" lIns="0" tIns="0" rIns="0" bIns="0" rtlCol="0" anchor="ctr"/>
          <a:lstStyle/>
          <a:p>
            <a:pPr algn="ctr" indent="0" marL="0">
              <a:buNone/>
            </a:pPr>
            <a:r>
              <a:rPr lang="en-US" sz="820" dirty="0">
                <a:solidFill>
                  <a:srgbClr val="64748B"/>
                </a:solidFill>
              </a:rPr>
              <a:t>browser/terminal</a:t>
            </a:r>
            <a:endParaRPr lang="en-US" sz="820" dirty="0"/>
          </a:p>
        </p:txBody>
      </p:sp>
      <p:sp>
        <p:nvSpPr>
          <p:cNvPr id="25" name="Text 23"/>
          <p:cNvSpPr/>
          <p:nvPr/>
        </p:nvSpPr>
        <p:spPr>
          <a:xfrm>
            <a:off x="960120" y="4800600"/>
            <a:ext cx="4754880" cy="777240"/>
          </a:xfrm>
          <a:prstGeom prst="rect">
            <a:avLst/>
          </a:prstGeom>
          <a:solidFill>
            <a:srgbClr val="F3F6F9"/>
          </a:solidFill>
          <a:ln w="12700">
            <a:solidFill>
              <a:srgbClr val="D5DDE5"/>
            </a:solidFill>
          </a:ln>
        </p:spPr>
        <p:txBody>
          <a:bodyPr wrap="square" lIns="1524" tIns="1524" rIns="1524" bIns="1524" rtlCol="0" anchor="ctr"/>
          <a:lstStyle/>
          <a:p>
            <a:pPr indent="0" marL="0">
              <a:buNone/>
            </a:pPr>
            <a:r>
              <a:rPr lang="en-US" sz="1080" dirty="0">
                <a:solidFill>
                  <a:srgbClr val="1F2933"/>
                </a:solidFill>
                <a:latin typeface="Aptos Mono" pitchFamily="34" charset="0"/>
                <a:ea typeface="Aptos Mono" pitchFamily="34" charset="-122"/>
                <a:cs typeface="Aptos Mono" pitchFamily="34" charset="-120"/>
              </a:rPr>
              <a:t>./run_project.sh</a:t>
            </a:r>
            <a:endParaRPr lang="en-US" sz="1080" dirty="0"/>
          </a:p>
          <a:p>
            <a:pPr indent="0" marL="0">
              <a:buNone/>
            </a:pPr>
            <a:r>
              <a:rPr lang="en-US" sz="1080" dirty="0">
                <a:solidFill>
                  <a:srgbClr val="1F2933"/>
                </a:solidFill>
                <a:latin typeface="Aptos Mono" pitchFamily="34" charset="0"/>
                <a:ea typeface="Aptos Mono" pitchFamily="34" charset="-122"/>
                <a:cs typeface="Aptos Mono" pitchFamily="34" charset="-120"/>
              </a:rPr>
              <a:t>python -m backend.replay_events</a:t>
            </a:r>
            <a:endParaRPr lang="en-US" sz="1080" dirty="0"/>
          </a:p>
          <a:p>
            <a:pPr indent="0" marL="0">
              <a:buNone/>
            </a:pPr>
            <a:r>
              <a:rPr lang="en-US" sz="1080" dirty="0">
                <a:solidFill>
                  <a:srgbClr val="1F2933"/>
                </a:solidFill>
                <a:latin typeface="Aptos Mono" pitchFamily="34" charset="0"/>
                <a:ea typeface="Aptos Mono" pitchFamily="34" charset="-122"/>
                <a:cs typeface="Aptos Mono" pitchFamily="34" charset="-120"/>
              </a:rPr>
              <a:t>python3 -m http.server 8000</a:t>
            </a:r>
            <a:endParaRPr lang="en-US" sz="1080" dirty="0"/>
          </a:p>
          <a:p>
            <a:pPr indent="0" marL="0">
              <a:buNone/>
            </a:pPr>
            <a:r>
              <a:rPr lang="en-US" sz="1080" dirty="0">
                <a:solidFill>
                  <a:srgbClr val="1F2933"/>
                </a:solidFill>
                <a:latin typeface="Aptos Mono" pitchFamily="34" charset="0"/>
                <a:ea typeface="Aptos Mono" pitchFamily="34" charset="-122"/>
                <a:cs typeface="Aptos Mono" pitchFamily="34" charset="-120"/>
              </a:rPr>
              <a:t>open http://localhost:8000/preview/</a:t>
            </a:r>
            <a:endParaRPr lang="en-US" sz="1080" dirty="0"/>
          </a:p>
        </p:txBody>
      </p:sp>
      <p:sp>
        <p:nvSpPr>
          <p:cNvPr id="26" name="Text 24"/>
          <p:cNvSpPr/>
          <p:nvPr/>
        </p:nvSpPr>
        <p:spPr>
          <a:xfrm>
            <a:off x="6217920" y="4864608"/>
            <a:ext cx="4846320" cy="621792"/>
          </a:xfrm>
          <a:prstGeom prst="rect">
            <a:avLst/>
          </a:prstGeom>
          <a:noFill/>
          <a:ln/>
        </p:spPr>
        <p:txBody>
          <a:bodyPr wrap="square" lIns="254" tIns="254" rIns="254" bIns="254" rtlCol="0" anchor="t">
            <a:normAutofit/>
          </a:bodyPr>
          <a:lstStyle/>
          <a:p>
            <a:pPr indent="0" marL="0">
              <a:buNone/>
            </a:pPr>
            <a:r>
              <a:rPr lang="en-US" sz="1340" dirty="0">
                <a:solidFill>
                  <a:srgbClr val="1F2933"/>
                </a:solidFill>
              </a:rPr>
              <a:t>Generated outputs include event timelines, Unreal-friendly CSVs, comparative charts, report assets, and a browser replay layer.</a:t>
            </a:r>
            <a:endParaRPr lang="en-US" sz="1340" dirty="0"/>
          </a:p>
        </p:txBody>
      </p:sp>
      <p:sp>
        <p:nvSpPr>
          <p:cNvPr id="27" name="Shape 25"/>
          <p:cNvSpPr/>
          <p:nvPr/>
        </p:nvSpPr>
        <p:spPr>
          <a:xfrm>
            <a:off x="548640" y="6446520"/>
            <a:ext cx="11064240" cy="0"/>
          </a:xfrm>
          <a:prstGeom prst="line">
            <a:avLst/>
          </a:prstGeom>
          <a:noFill/>
          <a:ln w="10160">
            <a:solidFill>
              <a:srgbClr val="D5DDE5"/>
            </a:solidFill>
            <a:prstDash val="solid"/>
          </a:ln>
        </p:spPr>
      </p:sp>
      <p:sp>
        <p:nvSpPr>
          <p:cNvPr id="28" name="Text 26"/>
          <p:cNvSpPr/>
          <p:nvPr/>
        </p:nvSpPr>
        <p:spPr>
          <a:xfrm>
            <a:off x="548640" y="6547104"/>
            <a:ext cx="5029200" cy="164592"/>
          </a:xfrm>
          <a:prstGeom prst="rect">
            <a:avLst/>
          </a:prstGeom>
          <a:noFill/>
          <a:ln/>
        </p:spPr>
        <p:txBody>
          <a:bodyPr wrap="square" lIns="0" tIns="0" rIns="0" bIns="0" rtlCol="0" anchor="ctr"/>
          <a:lstStyle/>
          <a:p>
            <a:pPr indent="0" marL="0">
              <a:buNone/>
            </a:pPr>
            <a:r>
              <a:rPr lang="en-US" sz="750" dirty="0">
                <a:solidFill>
                  <a:srgbClr val="64748B"/>
                </a:solidFill>
              </a:rPr>
              <a:t>OS Reliability in AI-Assisted Lean Visual Inspection</a:t>
            </a:r>
            <a:endParaRPr lang="en-US" sz="750" dirty="0"/>
          </a:p>
        </p:txBody>
      </p:sp>
      <p:sp>
        <p:nvSpPr>
          <p:cNvPr id="29" name="Text 27"/>
          <p:cNvSpPr/>
          <p:nvPr/>
        </p:nvSpPr>
        <p:spPr>
          <a:xfrm>
            <a:off x="10789920" y="6547104"/>
            <a:ext cx="822960" cy="164592"/>
          </a:xfrm>
          <a:prstGeom prst="rect">
            <a:avLst/>
          </a:prstGeom>
          <a:noFill/>
          <a:ln/>
        </p:spPr>
        <p:txBody>
          <a:bodyPr wrap="square" lIns="0" tIns="0" rIns="0" bIns="0" rtlCol="0" anchor="ctr"/>
          <a:lstStyle/>
          <a:p>
            <a:pPr algn="r" indent="0" marL="0">
              <a:buNone/>
            </a:pPr>
            <a:r>
              <a:rPr lang="en-US" sz="750" dirty="0">
                <a:solidFill>
                  <a:srgbClr val="64748B"/>
                </a:solidFill>
              </a:rPr>
              <a:t>Slide 10</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548640" y="502920"/>
            <a:ext cx="11064240" cy="0"/>
          </a:xfrm>
          <a:prstGeom prst="line">
            <a:avLst/>
          </a:prstGeom>
          <a:noFill/>
          <a:ln w="12700">
            <a:solidFill>
              <a:srgbClr val="D5DDE5"/>
            </a:solidFill>
            <a:prstDash val="solid"/>
          </a:ln>
        </p:spPr>
      </p:sp>
      <p:sp>
        <p:nvSpPr>
          <p:cNvPr id="3" name="Text 1"/>
          <p:cNvSpPr/>
          <p:nvPr/>
        </p:nvSpPr>
        <p:spPr>
          <a:xfrm>
            <a:off x="685800" y="685800"/>
            <a:ext cx="4389120" cy="201168"/>
          </a:xfrm>
          <a:prstGeom prst="rect">
            <a:avLst/>
          </a:prstGeom>
          <a:noFill/>
          <a:ln/>
        </p:spPr>
        <p:txBody>
          <a:bodyPr wrap="square" lIns="0" tIns="0" rIns="0" bIns="0" rtlCol="0" anchor="ctr"/>
          <a:lstStyle/>
          <a:p>
            <a:pPr indent="0" marL="0">
              <a:buNone/>
            </a:pPr>
            <a:r>
              <a:rPr lang="en-US" sz="850" b="1" dirty="0">
                <a:solidFill>
                  <a:srgbClr val="64748B"/>
                </a:solidFill>
              </a:rPr>
              <a:t>DIGITAL TWIN</a:t>
            </a:r>
            <a:endParaRPr lang="en-US" sz="850" dirty="0"/>
          </a:p>
        </p:txBody>
      </p:sp>
      <p:sp>
        <p:nvSpPr>
          <p:cNvPr id="4" name="Text 2"/>
          <p:cNvSpPr/>
          <p:nvPr/>
        </p:nvSpPr>
        <p:spPr>
          <a:xfrm>
            <a:off x="685800" y="960120"/>
            <a:ext cx="10241280" cy="411480"/>
          </a:xfrm>
          <a:prstGeom prst="rect">
            <a:avLst/>
          </a:prstGeom>
          <a:noFill/>
          <a:ln/>
        </p:spPr>
        <p:txBody>
          <a:bodyPr wrap="square" lIns="0" tIns="0" rIns="0" bIns="0" rtlCol="0" anchor="ctr">
            <a:normAutofit/>
          </a:bodyP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Unreal + VIXIO-style future path</a:t>
            </a:r>
            <a:endParaRPr lang="en-US" sz="2500" dirty="0"/>
          </a:p>
        </p:txBody>
      </p:sp>
      <p:sp>
        <p:nvSpPr>
          <p:cNvPr id="5" name="Text 3"/>
          <p:cNvSpPr/>
          <p:nvPr/>
        </p:nvSpPr>
        <p:spPr>
          <a:xfrm>
            <a:off x="704088" y="1490472"/>
            <a:ext cx="9875520" cy="292608"/>
          </a:xfrm>
          <a:prstGeom prst="rect">
            <a:avLst/>
          </a:prstGeom>
          <a:noFill/>
          <a:ln/>
        </p:spPr>
        <p:txBody>
          <a:bodyPr wrap="square" lIns="0" tIns="0" rIns="0" bIns="0" rtlCol="0" anchor="ctr">
            <a:normAutofit/>
          </a:bodyPr>
          <a:lstStyle/>
          <a:p>
            <a:pPr indent="0" marL="0">
              <a:buNone/>
            </a:pPr>
            <a:r>
              <a:rPr lang="en-US" sz="1150" dirty="0">
                <a:solidFill>
                  <a:srgbClr val="64748B"/>
                </a:solidFill>
              </a:rPr>
              <a:t>The project abstracts the OS reliability layer under AI visual inspection.</a:t>
            </a:r>
            <a:endParaRPr lang="en-US" sz="1150" dirty="0"/>
          </a:p>
        </p:txBody>
      </p:sp>
      <p:sp>
        <p:nvSpPr>
          <p:cNvPr id="6" name="Shape 4"/>
          <p:cNvSpPr/>
          <p:nvPr/>
        </p:nvSpPr>
        <p:spPr>
          <a:xfrm>
            <a:off x="2423160" y="2880360"/>
            <a:ext cx="1783080" cy="0"/>
          </a:xfrm>
          <a:prstGeom prst="line">
            <a:avLst/>
          </a:prstGeom>
          <a:noFill/>
          <a:ln w="16510">
            <a:solidFill>
              <a:srgbClr val="2E6F9E"/>
            </a:solidFill>
            <a:prstDash val="solid"/>
            <a:tailEnd type="triangle"/>
          </a:ln>
        </p:spPr>
      </p:sp>
      <p:sp>
        <p:nvSpPr>
          <p:cNvPr id="7" name="Shape 5"/>
          <p:cNvSpPr/>
          <p:nvPr/>
        </p:nvSpPr>
        <p:spPr>
          <a:xfrm>
            <a:off x="6035040" y="2880360"/>
            <a:ext cx="1783080" cy="0"/>
          </a:xfrm>
          <a:prstGeom prst="line">
            <a:avLst/>
          </a:prstGeom>
          <a:noFill/>
          <a:ln w="16510">
            <a:solidFill>
              <a:srgbClr val="2E6F9E"/>
            </a:solidFill>
            <a:prstDash val="solid"/>
            <a:tailEnd type="triangle"/>
          </a:ln>
        </p:spPr>
      </p:sp>
      <p:sp>
        <p:nvSpPr>
          <p:cNvPr id="8" name="Shape 6"/>
          <p:cNvSpPr/>
          <p:nvPr/>
        </p:nvSpPr>
        <p:spPr>
          <a:xfrm>
            <a:off x="9326880" y="2880360"/>
            <a:ext cx="868680" cy="0"/>
          </a:xfrm>
          <a:prstGeom prst="line">
            <a:avLst/>
          </a:prstGeom>
          <a:noFill/>
          <a:ln w="16510">
            <a:solidFill>
              <a:srgbClr val="2E6F9E"/>
            </a:solidFill>
            <a:prstDash val="solid"/>
            <a:tailEnd type="triangle"/>
          </a:ln>
        </p:spPr>
      </p:sp>
      <p:sp>
        <p:nvSpPr>
          <p:cNvPr id="9" name="Shape 7"/>
          <p:cNvSpPr/>
          <p:nvPr/>
        </p:nvSpPr>
        <p:spPr>
          <a:xfrm>
            <a:off x="777240" y="2423160"/>
            <a:ext cx="1737360" cy="868680"/>
          </a:xfrm>
          <a:prstGeom prst="roundRect">
            <a:avLst>
              <a:gd name="adj" fmla="val 7368"/>
            </a:avLst>
          </a:prstGeom>
          <a:solidFill>
            <a:srgbClr val="FFFFFF"/>
          </a:solidFill>
          <a:ln w="12700">
            <a:solidFill>
              <a:srgbClr val="D5DDE5"/>
            </a:solidFill>
            <a:prstDash val="solid"/>
          </a:ln>
        </p:spPr>
      </p:sp>
      <p:sp>
        <p:nvSpPr>
          <p:cNvPr id="10" name="Text 8"/>
          <p:cNvSpPr/>
          <p:nvPr/>
        </p:nvSpPr>
        <p:spPr>
          <a:xfrm>
            <a:off x="841248" y="2487168"/>
            <a:ext cx="1609344" cy="740664"/>
          </a:xfrm>
          <a:prstGeom prst="rect">
            <a:avLst/>
          </a:prstGeom>
          <a:noFill/>
          <a:ln/>
        </p:spPr>
        <p:txBody>
          <a:bodyPr wrap="square" lIns="0" tIns="0" rIns="0" bIns="0" rtlCol="0" anchor="ctr">
            <a:normAutofit/>
          </a:bodyPr>
          <a:lstStyle/>
          <a:p>
            <a:pPr algn="ctr" indent="0" marL="0">
              <a:buNone/>
            </a:pPr>
            <a:r>
              <a:rPr lang="en-US" sz="1130" b="1" dirty="0">
                <a:solidFill>
                  <a:srgbClr val="1F2933"/>
                </a:solidFill>
              </a:rPr>
              <a:t>Python OS</a:t>
            </a:r>
            <a:endParaRPr lang="en-US" sz="1130" dirty="0"/>
          </a:p>
          <a:p>
            <a:pPr algn="ctr" indent="0" marL="0">
              <a:buNone/>
            </a:pPr>
            <a:r>
              <a:rPr lang="en-US" sz="1130" b="1" dirty="0">
                <a:solidFill>
                  <a:srgbClr val="1F2933"/>
                </a:solidFill>
              </a:rPr>
              <a:t>Backend</a:t>
            </a:r>
            <a:endParaRPr lang="en-US" sz="1130" dirty="0"/>
          </a:p>
        </p:txBody>
      </p:sp>
      <p:sp>
        <p:nvSpPr>
          <p:cNvPr id="11" name="Shape 9"/>
          <p:cNvSpPr/>
          <p:nvPr/>
        </p:nvSpPr>
        <p:spPr>
          <a:xfrm>
            <a:off x="3977640" y="2423160"/>
            <a:ext cx="2057400" cy="868680"/>
          </a:xfrm>
          <a:prstGeom prst="roundRect">
            <a:avLst>
              <a:gd name="adj" fmla="val 7368"/>
            </a:avLst>
          </a:prstGeom>
          <a:solidFill>
            <a:srgbClr val="EAF4FA"/>
          </a:solidFill>
          <a:ln w="12700">
            <a:solidFill>
              <a:srgbClr val="2E6F9E"/>
            </a:solidFill>
            <a:prstDash val="solid"/>
          </a:ln>
        </p:spPr>
      </p:sp>
      <p:sp>
        <p:nvSpPr>
          <p:cNvPr id="12" name="Text 10"/>
          <p:cNvSpPr/>
          <p:nvPr/>
        </p:nvSpPr>
        <p:spPr>
          <a:xfrm>
            <a:off x="4041648" y="2487168"/>
            <a:ext cx="1929384" cy="740664"/>
          </a:xfrm>
          <a:prstGeom prst="rect">
            <a:avLst/>
          </a:prstGeom>
          <a:noFill/>
          <a:ln/>
        </p:spPr>
        <p:txBody>
          <a:bodyPr wrap="square" lIns="0" tIns="0" rIns="0" bIns="0" rtlCol="0" anchor="ctr">
            <a:normAutofit/>
          </a:bodyPr>
          <a:lstStyle/>
          <a:p>
            <a:pPr algn="ctr" indent="0" marL="0">
              <a:buNone/>
            </a:pPr>
            <a:r>
              <a:rPr lang="en-US" sz="1130" b="1" dirty="0">
                <a:solidFill>
                  <a:srgbClr val="1F2933"/>
                </a:solidFill>
              </a:rPr>
              <a:t>JSON / CSV</a:t>
            </a:r>
            <a:endParaRPr lang="en-US" sz="1130" dirty="0"/>
          </a:p>
          <a:p>
            <a:pPr algn="ctr" indent="0" marL="0">
              <a:buNone/>
            </a:pPr>
            <a:r>
              <a:rPr lang="en-US" sz="1130" b="1" dirty="0">
                <a:solidFill>
                  <a:srgbClr val="1F2933"/>
                </a:solidFill>
              </a:rPr>
              <a:t>Events</a:t>
            </a:r>
            <a:endParaRPr lang="en-US" sz="1130" dirty="0"/>
          </a:p>
        </p:txBody>
      </p:sp>
      <p:sp>
        <p:nvSpPr>
          <p:cNvPr id="13" name="Shape 11"/>
          <p:cNvSpPr/>
          <p:nvPr/>
        </p:nvSpPr>
        <p:spPr>
          <a:xfrm>
            <a:off x="7635240" y="2423160"/>
            <a:ext cx="1874520" cy="868680"/>
          </a:xfrm>
          <a:prstGeom prst="roundRect">
            <a:avLst>
              <a:gd name="adj" fmla="val 7368"/>
            </a:avLst>
          </a:prstGeom>
          <a:solidFill>
            <a:srgbClr val="FFFFFF"/>
          </a:solidFill>
          <a:ln w="12700">
            <a:solidFill>
              <a:srgbClr val="D5DDE5"/>
            </a:solidFill>
            <a:prstDash val="solid"/>
          </a:ln>
        </p:spPr>
      </p:sp>
      <p:sp>
        <p:nvSpPr>
          <p:cNvPr id="14" name="Text 12"/>
          <p:cNvSpPr/>
          <p:nvPr/>
        </p:nvSpPr>
        <p:spPr>
          <a:xfrm>
            <a:off x="7699248" y="2487168"/>
            <a:ext cx="1746504" cy="740664"/>
          </a:xfrm>
          <a:prstGeom prst="rect">
            <a:avLst/>
          </a:prstGeom>
          <a:noFill/>
          <a:ln/>
        </p:spPr>
        <p:txBody>
          <a:bodyPr wrap="square" lIns="0" tIns="0" rIns="0" bIns="0" rtlCol="0" anchor="ctr">
            <a:normAutofit/>
          </a:bodyPr>
          <a:lstStyle/>
          <a:p>
            <a:pPr algn="ctr" indent="0" marL="0">
              <a:buNone/>
            </a:pPr>
            <a:r>
              <a:rPr lang="en-US" sz="1130" b="1" dirty="0">
                <a:solidFill>
                  <a:srgbClr val="1F2933"/>
                </a:solidFill>
              </a:rPr>
              <a:t>Unreal</a:t>
            </a:r>
            <a:endParaRPr lang="en-US" sz="1130" dirty="0"/>
          </a:p>
          <a:p>
            <a:pPr algn="ctr" indent="0" marL="0">
              <a:buNone/>
            </a:pPr>
            <a:r>
              <a:rPr lang="en-US" sz="1130" b="1" dirty="0">
                <a:solidFill>
                  <a:srgbClr val="1F2933"/>
                </a:solidFill>
              </a:rPr>
              <a:t>Event Manager</a:t>
            </a:r>
            <a:endParaRPr lang="en-US" sz="1130" dirty="0"/>
          </a:p>
        </p:txBody>
      </p:sp>
      <p:sp>
        <p:nvSpPr>
          <p:cNvPr id="15" name="Shape 13"/>
          <p:cNvSpPr/>
          <p:nvPr/>
        </p:nvSpPr>
        <p:spPr>
          <a:xfrm>
            <a:off x="10058400" y="2423160"/>
            <a:ext cx="1554480" cy="868680"/>
          </a:xfrm>
          <a:prstGeom prst="roundRect">
            <a:avLst>
              <a:gd name="adj" fmla="val 7368"/>
            </a:avLst>
          </a:prstGeom>
          <a:solidFill>
            <a:srgbClr val="EFFAF4"/>
          </a:solidFill>
          <a:ln w="12700">
            <a:solidFill>
              <a:srgbClr val="2E7D5B"/>
            </a:solidFill>
            <a:prstDash val="solid"/>
          </a:ln>
        </p:spPr>
      </p:sp>
      <p:sp>
        <p:nvSpPr>
          <p:cNvPr id="16" name="Text 14"/>
          <p:cNvSpPr/>
          <p:nvPr/>
        </p:nvSpPr>
        <p:spPr>
          <a:xfrm>
            <a:off x="10122408" y="2487168"/>
            <a:ext cx="1426464" cy="740664"/>
          </a:xfrm>
          <a:prstGeom prst="rect">
            <a:avLst/>
          </a:prstGeom>
          <a:noFill/>
          <a:ln/>
        </p:spPr>
        <p:txBody>
          <a:bodyPr wrap="square" lIns="0" tIns="0" rIns="0" bIns="0" rtlCol="0" anchor="ctr">
            <a:normAutofit/>
          </a:bodyPr>
          <a:lstStyle/>
          <a:p>
            <a:pPr algn="ctr" indent="0" marL="0">
              <a:buNone/>
            </a:pPr>
            <a:r>
              <a:rPr lang="en-US" sz="1050" b="1" dirty="0">
                <a:solidFill>
                  <a:srgbClr val="1F2933"/>
                </a:solidFill>
              </a:rPr>
              <a:t>3D Conveyor</a:t>
            </a:r>
            <a:endParaRPr lang="en-US" sz="1050" dirty="0"/>
          </a:p>
          <a:p>
            <a:pPr algn="ctr" indent="0" marL="0">
              <a:buNone/>
            </a:pPr>
            <a:r>
              <a:rPr lang="en-US" sz="1050" b="1" dirty="0">
                <a:solidFill>
                  <a:srgbClr val="1F2933"/>
                </a:solidFill>
              </a:rPr>
              <a:t>Digital Twin</a:t>
            </a:r>
            <a:endParaRPr lang="en-US" sz="1050" dirty="0"/>
          </a:p>
        </p:txBody>
      </p:sp>
      <p:sp>
        <p:nvSpPr>
          <p:cNvPr id="17" name="Shape 15"/>
          <p:cNvSpPr/>
          <p:nvPr/>
        </p:nvSpPr>
        <p:spPr>
          <a:xfrm>
            <a:off x="868680" y="4297680"/>
            <a:ext cx="4892040" cy="749808"/>
          </a:xfrm>
          <a:prstGeom prst="roundRect">
            <a:avLst>
              <a:gd name="adj" fmla="val 8537"/>
            </a:avLst>
          </a:prstGeom>
          <a:solidFill>
            <a:srgbClr val="EAF4FA"/>
          </a:solidFill>
          <a:ln w="12700">
            <a:solidFill>
              <a:srgbClr val="2E6F9E"/>
            </a:solidFill>
            <a:prstDash val="solid"/>
          </a:ln>
        </p:spPr>
      </p:sp>
      <p:sp>
        <p:nvSpPr>
          <p:cNvPr id="18" name="Text 16"/>
          <p:cNvSpPr/>
          <p:nvPr/>
        </p:nvSpPr>
        <p:spPr>
          <a:xfrm>
            <a:off x="932688" y="4361688"/>
            <a:ext cx="4764024" cy="621792"/>
          </a:xfrm>
          <a:prstGeom prst="rect">
            <a:avLst/>
          </a:prstGeom>
          <a:noFill/>
          <a:ln/>
        </p:spPr>
        <p:txBody>
          <a:bodyPr wrap="square" lIns="0" tIns="0" rIns="0" bIns="0" rtlCol="0" anchor="ctr">
            <a:normAutofit/>
          </a:bodyPr>
          <a:lstStyle/>
          <a:p>
            <a:pPr algn="ctr" indent="0" marL="0">
              <a:buNone/>
            </a:pPr>
            <a:r>
              <a:rPr lang="en-US" sz="1240" b="1" dirty="0">
                <a:solidFill>
                  <a:srgbClr val="1F2933"/>
                </a:solidFill>
              </a:rPr>
              <a:t>VIXIO-style inspection node: AI can complement rule-based inspection and support primary screening.</a:t>
            </a:r>
            <a:endParaRPr lang="en-US" sz="1240" dirty="0"/>
          </a:p>
        </p:txBody>
      </p:sp>
      <p:sp>
        <p:nvSpPr>
          <p:cNvPr id="19" name="Shape 17"/>
          <p:cNvSpPr/>
          <p:nvPr/>
        </p:nvSpPr>
        <p:spPr>
          <a:xfrm>
            <a:off x="6355080" y="4297680"/>
            <a:ext cx="4892040" cy="749808"/>
          </a:xfrm>
          <a:prstGeom prst="roundRect">
            <a:avLst>
              <a:gd name="adj" fmla="val 8537"/>
            </a:avLst>
          </a:prstGeom>
          <a:solidFill>
            <a:srgbClr val="FFF8ED"/>
          </a:solidFill>
          <a:ln w="12700">
            <a:solidFill>
              <a:srgbClr val="D99027"/>
            </a:solidFill>
            <a:prstDash val="solid"/>
          </a:ln>
        </p:spPr>
      </p:sp>
      <p:sp>
        <p:nvSpPr>
          <p:cNvPr id="20" name="Text 18"/>
          <p:cNvSpPr/>
          <p:nvPr/>
        </p:nvSpPr>
        <p:spPr>
          <a:xfrm>
            <a:off x="6419088" y="4361688"/>
            <a:ext cx="4764024" cy="621792"/>
          </a:xfrm>
          <a:prstGeom prst="rect">
            <a:avLst/>
          </a:prstGeom>
          <a:noFill/>
          <a:ln/>
        </p:spPr>
        <p:txBody>
          <a:bodyPr wrap="square" lIns="0" tIns="0" rIns="0" bIns="0" rtlCol="0" anchor="ctr">
            <a:normAutofit/>
          </a:bodyPr>
          <a:lstStyle/>
          <a:p>
            <a:pPr algn="ctr" indent="0" marL="0">
              <a:buNone/>
            </a:pPr>
            <a:r>
              <a:rPr lang="en-US" sz="1240" b="1" dirty="0">
                <a:solidFill>
                  <a:srgbClr val="1F2933"/>
                </a:solidFill>
              </a:rPr>
              <a:t>Boundary: this is not a direct VIXIO clone or integration; it is a compatible workflow abstraction.</a:t>
            </a:r>
            <a:endParaRPr lang="en-US" sz="1240" dirty="0"/>
          </a:p>
        </p:txBody>
      </p:sp>
      <p:sp>
        <p:nvSpPr>
          <p:cNvPr id="21" name="Text 19"/>
          <p:cNvSpPr/>
          <p:nvPr/>
        </p:nvSpPr>
        <p:spPr>
          <a:xfrm>
            <a:off x="685800" y="6053328"/>
            <a:ext cx="6400800" cy="164592"/>
          </a:xfrm>
          <a:prstGeom prst="rect">
            <a:avLst/>
          </a:prstGeom>
          <a:noFill/>
          <a:ln/>
        </p:spPr>
        <p:txBody>
          <a:bodyPr wrap="square" lIns="0" tIns="0" rIns="0" bIns="0" rtlCol="0" anchor="ctr"/>
          <a:lstStyle/>
          <a:p>
            <a:pPr indent="0" marL="0">
              <a:buNone/>
            </a:pPr>
            <a:r>
              <a:rPr lang="en-US" sz="700" dirty="0">
                <a:solidFill>
                  <a:srgbClr val="64748B"/>
                </a:solidFill>
              </a:rPr>
              <a:t>Source: Mitsubishi Electric official MELSOFT VIXIO product page.</a:t>
            </a:r>
            <a:endParaRPr lang="en-US" sz="700" dirty="0"/>
          </a:p>
        </p:txBody>
      </p:sp>
      <p:sp>
        <p:nvSpPr>
          <p:cNvPr id="22" name="Shape 20"/>
          <p:cNvSpPr/>
          <p:nvPr/>
        </p:nvSpPr>
        <p:spPr>
          <a:xfrm>
            <a:off x="548640" y="6446520"/>
            <a:ext cx="11064240" cy="0"/>
          </a:xfrm>
          <a:prstGeom prst="line">
            <a:avLst/>
          </a:prstGeom>
          <a:noFill/>
          <a:ln w="10160">
            <a:solidFill>
              <a:srgbClr val="D5DDE5"/>
            </a:solidFill>
            <a:prstDash val="solid"/>
          </a:ln>
        </p:spPr>
      </p:sp>
      <p:sp>
        <p:nvSpPr>
          <p:cNvPr id="23" name="Text 21"/>
          <p:cNvSpPr/>
          <p:nvPr/>
        </p:nvSpPr>
        <p:spPr>
          <a:xfrm>
            <a:off x="548640" y="6547104"/>
            <a:ext cx="5029200" cy="164592"/>
          </a:xfrm>
          <a:prstGeom prst="rect">
            <a:avLst/>
          </a:prstGeom>
          <a:noFill/>
          <a:ln/>
        </p:spPr>
        <p:txBody>
          <a:bodyPr wrap="square" lIns="0" tIns="0" rIns="0" bIns="0" rtlCol="0" anchor="ctr"/>
          <a:lstStyle/>
          <a:p>
            <a:pPr indent="0" marL="0">
              <a:buNone/>
            </a:pPr>
            <a:r>
              <a:rPr lang="en-US" sz="750" dirty="0">
                <a:solidFill>
                  <a:srgbClr val="64748B"/>
                </a:solidFill>
              </a:rPr>
              <a:t>OS Reliability in AI-Assisted Lean Visual Inspection</a:t>
            </a:r>
            <a:endParaRPr lang="en-US" sz="750" dirty="0"/>
          </a:p>
        </p:txBody>
      </p:sp>
      <p:sp>
        <p:nvSpPr>
          <p:cNvPr id="24" name="Text 22"/>
          <p:cNvSpPr/>
          <p:nvPr/>
        </p:nvSpPr>
        <p:spPr>
          <a:xfrm>
            <a:off x="10789920" y="6547104"/>
            <a:ext cx="822960" cy="164592"/>
          </a:xfrm>
          <a:prstGeom prst="rect">
            <a:avLst/>
          </a:prstGeom>
          <a:noFill/>
          <a:ln/>
        </p:spPr>
        <p:txBody>
          <a:bodyPr wrap="square" lIns="0" tIns="0" rIns="0" bIns="0" rtlCol="0" anchor="ctr"/>
          <a:lstStyle/>
          <a:p>
            <a:pPr algn="r" indent="0" marL="0">
              <a:buNone/>
            </a:pPr>
            <a:r>
              <a:rPr lang="en-US" sz="750" dirty="0">
                <a:solidFill>
                  <a:srgbClr val="64748B"/>
                </a:solidFill>
              </a:rPr>
              <a:t>Slide 11</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548640" y="502920"/>
            <a:ext cx="11064240" cy="0"/>
          </a:xfrm>
          <a:prstGeom prst="line">
            <a:avLst/>
          </a:prstGeom>
          <a:noFill/>
          <a:ln w="12700">
            <a:solidFill>
              <a:srgbClr val="D5DDE5"/>
            </a:solidFill>
            <a:prstDash val="solid"/>
          </a:ln>
        </p:spPr>
      </p:sp>
      <p:sp>
        <p:nvSpPr>
          <p:cNvPr id="3" name="Text 1"/>
          <p:cNvSpPr/>
          <p:nvPr/>
        </p:nvSpPr>
        <p:spPr>
          <a:xfrm>
            <a:off x="685800" y="685800"/>
            <a:ext cx="4389120" cy="201168"/>
          </a:xfrm>
          <a:prstGeom prst="rect">
            <a:avLst/>
          </a:prstGeom>
          <a:noFill/>
          <a:ln/>
        </p:spPr>
        <p:txBody>
          <a:bodyPr wrap="square" lIns="0" tIns="0" rIns="0" bIns="0" rtlCol="0" anchor="ctr"/>
          <a:lstStyle/>
          <a:p>
            <a:pPr indent="0" marL="0">
              <a:buNone/>
            </a:pPr>
            <a:r>
              <a:rPr lang="en-US" sz="850" b="1" dirty="0">
                <a:solidFill>
                  <a:srgbClr val="64748B"/>
                </a:solidFill>
              </a:rPr>
              <a:t>DEMO PLAN</a:t>
            </a:r>
            <a:endParaRPr lang="en-US" sz="850" dirty="0"/>
          </a:p>
        </p:txBody>
      </p:sp>
      <p:sp>
        <p:nvSpPr>
          <p:cNvPr id="4" name="Text 2"/>
          <p:cNvSpPr/>
          <p:nvPr/>
        </p:nvSpPr>
        <p:spPr>
          <a:xfrm>
            <a:off x="685800" y="960120"/>
            <a:ext cx="10241280" cy="411480"/>
          </a:xfrm>
          <a:prstGeom prst="rect">
            <a:avLst/>
          </a:prstGeom>
          <a:noFill/>
          <a:ln/>
        </p:spPr>
        <p:txBody>
          <a:bodyPr wrap="square" lIns="0" tIns="0" rIns="0" bIns="0" rtlCol="0" anchor="ctr">
            <a:normAutofit/>
          </a:bodyP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How to present it cleanly</a:t>
            </a:r>
            <a:endParaRPr lang="en-US" sz="2500" dirty="0"/>
          </a:p>
        </p:txBody>
      </p:sp>
      <p:sp>
        <p:nvSpPr>
          <p:cNvPr id="5" name="Text 3"/>
          <p:cNvSpPr/>
          <p:nvPr/>
        </p:nvSpPr>
        <p:spPr>
          <a:xfrm>
            <a:off x="704088" y="1490472"/>
            <a:ext cx="9875520" cy="292608"/>
          </a:xfrm>
          <a:prstGeom prst="rect">
            <a:avLst/>
          </a:prstGeom>
          <a:noFill/>
          <a:ln/>
        </p:spPr>
        <p:txBody>
          <a:bodyPr wrap="square" lIns="0" tIns="0" rIns="0" bIns="0" rtlCol="0" anchor="ctr">
            <a:normAutofit/>
          </a:bodyPr>
          <a:lstStyle/>
          <a:p>
            <a:pPr indent="0" marL="0">
              <a:buNone/>
            </a:pPr>
            <a:r>
              <a:rPr lang="en-US" sz="1150" dirty="0">
                <a:solidFill>
                  <a:srgbClr val="64748B"/>
                </a:solidFill>
              </a:rPr>
              <a:t>Show the artifact, then explain the OS concepts it proves.</a:t>
            </a:r>
            <a:endParaRPr lang="en-US" sz="1150" dirty="0"/>
          </a:p>
        </p:txBody>
      </p:sp>
      <p:sp>
        <p:nvSpPr>
          <p:cNvPr id="6" name="Shape 4"/>
          <p:cNvSpPr/>
          <p:nvPr/>
        </p:nvSpPr>
        <p:spPr>
          <a:xfrm>
            <a:off x="868680" y="1965960"/>
            <a:ext cx="320040" cy="320040"/>
          </a:xfrm>
          <a:prstGeom prst="ellipse">
            <a:avLst/>
          </a:prstGeom>
          <a:solidFill>
            <a:srgbClr val="2E6F9E"/>
          </a:solidFill>
          <a:ln w="12700">
            <a:solidFill>
              <a:srgbClr val="2E6F9E"/>
            </a:solidFill>
            <a:prstDash val="solid"/>
          </a:ln>
        </p:spPr>
      </p:sp>
      <p:sp>
        <p:nvSpPr>
          <p:cNvPr id="7" name="Text 5"/>
          <p:cNvSpPr/>
          <p:nvPr/>
        </p:nvSpPr>
        <p:spPr>
          <a:xfrm>
            <a:off x="868680" y="2039112"/>
            <a:ext cx="320040" cy="109728"/>
          </a:xfrm>
          <a:prstGeom prst="rect">
            <a:avLst/>
          </a:prstGeom>
          <a:noFill/>
          <a:ln/>
        </p:spPr>
        <p:txBody>
          <a:bodyPr wrap="square" lIns="0" tIns="0" rIns="0" bIns="0" rtlCol="0" anchor="ctr"/>
          <a:lstStyle/>
          <a:p>
            <a:pPr algn="ctr" indent="0" marL="0">
              <a:buNone/>
            </a:pPr>
            <a:r>
              <a:rPr lang="en-US" sz="820" b="1" dirty="0">
                <a:solidFill>
                  <a:srgbClr val="FFFFFF"/>
                </a:solidFill>
              </a:rPr>
              <a:t>1</a:t>
            </a:r>
            <a:endParaRPr lang="en-US" sz="820" dirty="0"/>
          </a:p>
        </p:txBody>
      </p:sp>
      <p:sp>
        <p:nvSpPr>
          <p:cNvPr id="8" name="Text 6"/>
          <p:cNvSpPr/>
          <p:nvPr/>
        </p:nvSpPr>
        <p:spPr>
          <a:xfrm>
            <a:off x="1417320" y="1965960"/>
            <a:ext cx="2103120" cy="201168"/>
          </a:xfrm>
          <a:prstGeom prst="rect">
            <a:avLst/>
          </a:prstGeom>
          <a:noFill/>
          <a:ln/>
        </p:spPr>
        <p:txBody>
          <a:bodyPr wrap="square" lIns="0" tIns="0" rIns="0" bIns="0" rtlCol="0" anchor="ctr"/>
          <a:lstStyle/>
          <a:p>
            <a:pPr indent="0" marL="0">
              <a:buNone/>
            </a:pPr>
            <a:r>
              <a:rPr lang="en-US" sz="1250" b="1" dirty="0">
                <a:solidFill>
                  <a:srgbClr val="1F2933"/>
                </a:solidFill>
              </a:rPr>
              <a:t>Run backend</a:t>
            </a:r>
            <a:endParaRPr lang="en-US" sz="1250" dirty="0"/>
          </a:p>
        </p:txBody>
      </p:sp>
      <p:sp>
        <p:nvSpPr>
          <p:cNvPr id="9" name="Text 7"/>
          <p:cNvSpPr/>
          <p:nvPr/>
        </p:nvSpPr>
        <p:spPr>
          <a:xfrm>
            <a:off x="3703320" y="1965960"/>
            <a:ext cx="7132320" cy="201168"/>
          </a:xfrm>
          <a:prstGeom prst="rect">
            <a:avLst/>
          </a:prstGeom>
          <a:noFill/>
          <a:ln/>
        </p:spPr>
        <p:txBody>
          <a:bodyPr wrap="square" lIns="0" tIns="0" rIns="0" bIns="0" rtlCol="0" anchor="ctr">
            <a:normAutofit/>
          </a:bodyPr>
          <a:lstStyle/>
          <a:p>
            <a:pPr indent="0" marL="0">
              <a:buNone/>
            </a:pPr>
            <a:r>
              <a:rPr lang="en-US" sz="1150" dirty="0">
                <a:solidFill>
                  <a:srgbClr val="64748B"/>
                </a:solidFill>
              </a:rPr>
              <a:t>./run_project.sh</a:t>
            </a:r>
            <a:endParaRPr lang="en-US" sz="1150" dirty="0"/>
          </a:p>
        </p:txBody>
      </p:sp>
      <p:sp>
        <p:nvSpPr>
          <p:cNvPr id="10" name="Shape 8"/>
          <p:cNvSpPr/>
          <p:nvPr/>
        </p:nvSpPr>
        <p:spPr>
          <a:xfrm>
            <a:off x="868680" y="2624328"/>
            <a:ext cx="320040" cy="320040"/>
          </a:xfrm>
          <a:prstGeom prst="ellipse">
            <a:avLst/>
          </a:prstGeom>
          <a:solidFill>
            <a:srgbClr val="2E6F9E"/>
          </a:solidFill>
          <a:ln w="12700">
            <a:solidFill>
              <a:srgbClr val="2E6F9E"/>
            </a:solidFill>
            <a:prstDash val="solid"/>
          </a:ln>
        </p:spPr>
      </p:sp>
      <p:sp>
        <p:nvSpPr>
          <p:cNvPr id="11" name="Text 9"/>
          <p:cNvSpPr/>
          <p:nvPr/>
        </p:nvSpPr>
        <p:spPr>
          <a:xfrm>
            <a:off x="868680" y="2697480"/>
            <a:ext cx="320040" cy="109728"/>
          </a:xfrm>
          <a:prstGeom prst="rect">
            <a:avLst/>
          </a:prstGeom>
          <a:noFill/>
          <a:ln/>
        </p:spPr>
        <p:txBody>
          <a:bodyPr wrap="square" lIns="0" tIns="0" rIns="0" bIns="0" rtlCol="0" anchor="ctr"/>
          <a:lstStyle/>
          <a:p>
            <a:pPr algn="ctr" indent="0" marL="0">
              <a:buNone/>
            </a:pPr>
            <a:r>
              <a:rPr lang="en-US" sz="820" b="1" dirty="0">
                <a:solidFill>
                  <a:srgbClr val="FFFFFF"/>
                </a:solidFill>
              </a:rPr>
              <a:t>2</a:t>
            </a:r>
            <a:endParaRPr lang="en-US" sz="820" dirty="0"/>
          </a:p>
        </p:txBody>
      </p:sp>
      <p:sp>
        <p:nvSpPr>
          <p:cNvPr id="12" name="Text 10"/>
          <p:cNvSpPr/>
          <p:nvPr/>
        </p:nvSpPr>
        <p:spPr>
          <a:xfrm>
            <a:off x="1417320" y="2624328"/>
            <a:ext cx="2103120" cy="201168"/>
          </a:xfrm>
          <a:prstGeom prst="rect">
            <a:avLst/>
          </a:prstGeom>
          <a:noFill/>
          <a:ln/>
        </p:spPr>
        <p:txBody>
          <a:bodyPr wrap="square" lIns="0" tIns="0" rIns="0" bIns="0" rtlCol="0" anchor="ctr"/>
          <a:lstStyle/>
          <a:p>
            <a:pPr indent="0" marL="0">
              <a:buNone/>
            </a:pPr>
            <a:r>
              <a:rPr lang="en-US" sz="1250" b="1" dirty="0">
                <a:solidFill>
                  <a:srgbClr val="1F2933"/>
                </a:solidFill>
              </a:rPr>
              <a:t>Unsafe replay</a:t>
            </a:r>
            <a:endParaRPr lang="en-US" sz="1250" dirty="0"/>
          </a:p>
        </p:txBody>
      </p:sp>
      <p:sp>
        <p:nvSpPr>
          <p:cNvPr id="13" name="Text 11"/>
          <p:cNvSpPr/>
          <p:nvPr/>
        </p:nvSpPr>
        <p:spPr>
          <a:xfrm>
            <a:off x="3703320" y="2624328"/>
            <a:ext cx="7132320" cy="201168"/>
          </a:xfrm>
          <a:prstGeom prst="rect">
            <a:avLst/>
          </a:prstGeom>
          <a:noFill/>
          <a:ln/>
        </p:spPr>
        <p:txBody>
          <a:bodyPr wrap="square" lIns="0" tIns="0" rIns="0" bIns="0" rtlCol="0" anchor="ctr">
            <a:normAutofit/>
          </a:bodyPr>
          <a:lstStyle/>
          <a:p>
            <a:pPr indent="0" marL="0">
              <a:buNone/>
            </a:pPr>
            <a:r>
              <a:rPr lang="en-US" sz="1150" dirty="0">
                <a:solidFill>
                  <a:srgbClr val="64748B"/>
                </a:solidFill>
              </a:rPr>
              <a:t>race events visible</a:t>
            </a:r>
            <a:endParaRPr lang="en-US" sz="1150" dirty="0"/>
          </a:p>
        </p:txBody>
      </p:sp>
      <p:sp>
        <p:nvSpPr>
          <p:cNvPr id="14" name="Shape 12"/>
          <p:cNvSpPr/>
          <p:nvPr/>
        </p:nvSpPr>
        <p:spPr>
          <a:xfrm>
            <a:off x="868680" y="3282696"/>
            <a:ext cx="320040" cy="320040"/>
          </a:xfrm>
          <a:prstGeom prst="ellipse">
            <a:avLst/>
          </a:prstGeom>
          <a:solidFill>
            <a:srgbClr val="2E6F9E"/>
          </a:solidFill>
          <a:ln w="12700">
            <a:solidFill>
              <a:srgbClr val="2E6F9E"/>
            </a:solidFill>
            <a:prstDash val="solid"/>
          </a:ln>
        </p:spPr>
      </p:sp>
      <p:sp>
        <p:nvSpPr>
          <p:cNvPr id="15" name="Text 13"/>
          <p:cNvSpPr/>
          <p:nvPr/>
        </p:nvSpPr>
        <p:spPr>
          <a:xfrm>
            <a:off x="868680" y="3355848"/>
            <a:ext cx="320040" cy="109728"/>
          </a:xfrm>
          <a:prstGeom prst="rect">
            <a:avLst/>
          </a:prstGeom>
          <a:noFill/>
          <a:ln/>
        </p:spPr>
        <p:txBody>
          <a:bodyPr wrap="square" lIns="0" tIns="0" rIns="0" bIns="0" rtlCol="0" anchor="ctr"/>
          <a:lstStyle/>
          <a:p>
            <a:pPr algn="ctr" indent="0" marL="0">
              <a:buNone/>
            </a:pPr>
            <a:r>
              <a:rPr lang="en-US" sz="820" b="1" dirty="0">
                <a:solidFill>
                  <a:srgbClr val="FFFFFF"/>
                </a:solidFill>
              </a:rPr>
              <a:t>3</a:t>
            </a:r>
            <a:endParaRPr lang="en-US" sz="820" dirty="0"/>
          </a:p>
        </p:txBody>
      </p:sp>
      <p:sp>
        <p:nvSpPr>
          <p:cNvPr id="16" name="Text 14"/>
          <p:cNvSpPr/>
          <p:nvPr/>
        </p:nvSpPr>
        <p:spPr>
          <a:xfrm>
            <a:off x="1417320" y="3282696"/>
            <a:ext cx="2103120" cy="201168"/>
          </a:xfrm>
          <a:prstGeom prst="rect">
            <a:avLst/>
          </a:prstGeom>
          <a:noFill/>
          <a:ln/>
        </p:spPr>
        <p:txBody>
          <a:bodyPr wrap="square" lIns="0" tIns="0" rIns="0" bIns="0" rtlCol="0" anchor="ctr"/>
          <a:lstStyle/>
          <a:p>
            <a:pPr indent="0" marL="0">
              <a:buNone/>
            </a:pPr>
            <a:r>
              <a:rPr lang="en-US" sz="1250" b="1" dirty="0">
                <a:solidFill>
                  <a:srgbClr val="1F2933"/>
                </a:solidFill>
              </a:rPr>
              <a:t>Safe replay</a:t>
            </a:r>
            <a:endParaRPr lang="en-US" sz="1250" dirty="0"/>
          </a:p>
        </p:txBody>
      </p:sp>
      <p:sp>
        <p:nvSpPr>
          <p:cNvPr id="17" name="Text 15"/>
          <p:cNvSpPr/>
          <p:nvPr/>
        </p:nvSpPr>
        <p:spPr>
          <a:xfrm>
            <a:off x="3703320" y="3282696"/>
            <a:ext cx="7132320" cy="201168"/>
          </a:xfrm>
          <a:prstGeom prst="rect">
            <a:avLst/>
          </a:prstGeom>
          <a:noFill/>
          <a:ln/>
        </p:spPr>
        <p:txBody>
          <a:bodyPr wrap="square" lIns="0" tIns="0" rIns="0" bIns="0" rtlCol="0" anchor="ctr">
            <a:normAutofit/>
          </a:bodyPr>
          <a:lstStyle/>
          <a:p>
            <a:pPr indent="0" marL="0">
              <a:buNone/>
            </a:pPr>
            <a:r>
              <a:rPr lang="en-US" sz="1150" dirty="0">
                <a:solidFill>
                  <a:srgbClr val="64748B"/>
                </a:solidFill>
              </a:rPr>
              <a:t>race events = 0</a:t>
            </a:r>
            <a:endParaRPr lang="en-US" sz="1150" dirty="0"/>
          </a:p>
        </p:txBody>
      </p:sp>
      <p:sp>
        <p:nvSpPr>
          <p:cNvPr id="18" name="Shape 16"/>
          <p:cNvSpPr/>
          <p:nvPr/>
        </p:nvSpPr>
        <p:spPr>
          <a:xfrm>
            <a:off x="868680" y="3941064"/>
            <a:ext cx="320040" cy="320040"/>
          </a:xfrm>
          <a:prstGeom prst="ellipse">
            <a:avLst/>
          </a:prstGeom>
          <a:solidFill>
            <a:srgbClr val="2E6F9E"/>
          </a:solidFill>
          <a:ln w="12700">
            <a:solidFill>
              <a:srgbClr val="2E6F9E"/>
            </a:solidFill>
            <a:prstDash val="solid"/>
          </a:ln>
        </p:spPr>
      </p:sp>
      <p:sp>
        <p:nvSpPr>
          <p:cNvPr id="19" name="Text 17"/>
          <p:cNvSpPr/>
          <p:nvPr/>
        </p:nvSpPr>
        <p:spPr>
          <a:xfrm>
            <a:off x="868680" y="4014216"/>
            <a:ext cx="320040" cy="109728"/>
          </a:xfrm>
          <a:prstGeom prst="rect">
            <a:avLst/>
          </a:prstGeom>
          <a:noFill/>
          <a:ln/>
        </p:spPr>
        <p:txBody>
          <a:bodyPr wrap="square" lIns="0" tIns="0" rIns="0" bIns="0" rtlCol="0" anchor="ctr"/>
          <a:lstStyle/>
          <a:p>
            <a:pPr algn="ctr" indent="0" marL="0">
              <a:buNone/>
            </a:pPr>
            <a:r>
              <a:rPr lang="en-US" sz="820" b="1" dirty="0">
                <a:solidFill>
                  <a:srgbClr val="FFFFFF"/>
                </a:solidFill>
              </a:rPr>
              <a:t>4</a:t>
            </a:r>
            <a:endParaRPr lang="en-US" sz="820" dirty="0"/>
          </a:p>
        </p:txBody>
      </p:sp>
      <p:sp>
        <p:nvSpPr>
          <p:cNvPr id="20" name="Text 18"/>
          <p:cNvSpPr/>
          <p:nvPr/>
        </p:nvSpPr>
        <p:spPr>
          <a:xfrm>
            <a:off x="1417320" y="3941064"/>
            <a:ext cx="2103120" cy="201168"/>
          </a:xfrm>
          <a:prstGeom prst="rect">
            <a:avLst/>
          </a:prstGeom>
          <a:noFill/>
          <a:ln/>
        </p:spPr>
        <p:txBody>
          <a:bodyPr wrap="square" lIns="0" tIns="0" rIns="0" bIns="0" rtlCol="0" anchor="ctr"/>
          <a:lstStyle/>
          <a:p>
            <a:pPr indent="0" marL="0">
              <a:buNone/>
            </a:pPr>
            <a:r>
              <a:rPr lang="en-US" sz="1250" b="1" dirty="0">
                <a:solidFill>
                  <a:srgbClr val="1F2933"/>
                </a:solidFill>
              </a:rPr>
              <a:t>Browser preview</a:t>
            </a:r>
            <a:endParaRPr lang="en-US" sz="1250" dirty="0"/>
          </a:p>
        </p:txBody>
      </p:sp>
      <p:sp>
        <p:nvSpPr>
          <p:cNvPr id="21" name="Text 19"/>
          <p:cNvSpPr/>
          <p:nvPr/>
        </p:nvSpPr>
        <p:spPr>
          <a:xfrm>
            <a:off x="3703320" y="3941064"/>
            <a:ext cx="7132320" cy="201168"/>
          </a:xfrm>
          <a:prstGeom prst="rect">
            <a:avLst/>
          </a:prstGeom>
          <a:noFill/>
          <a:ln/>
        </p:spPr>
        <p:txBody>
          <a:bodyPr wrap="square" lIns="0" tIns="0" rIns="0" bIns="0" rtlCol="0" anchor="ctr">
            <a:normAutofit/>
          </a:bodyPr>
          <a:lstStyle/>
          <a:p>
            <a:pPr indent="0" marL="0">
              <a:buNone/>
            </a:pPr>
            <a:r>
              <a:rPr lang="en-US" sz="1150" dirty="0">
                <a:solidFill>
                  <a:srgbClr val="64748B"/>
                </a:solidFill>
              </a:rPr>
              <a:t>unsafe · safe · EDF · RMS · FCFS · RR · priority</a:t>
            </a:r>
            <a:endParaRPr lang="en-US" sz="1150" dirty="0"/>
          </a:p>
        </p:txBody>
      </p:sp>
      <p:sp>
        <p:nvSpPr>
          <p:cNvPr id="22" name="Shape 20"/>
          <p:cNvSpPr/>
          <p:nvPr/>
        </p:nvSpPr>
        <p:spPr>
          <a:xfrm>
            <a:off x="868680" y="4599432"/>
            <a:ext cx="320040" cy="320040"/>
          </a:xfrm>
          <a:prstGeom prst="ellipse">
            <a:avLst/>
          </a:prstGeom>
          <a:solidFill>
            <a:srgbClr val="2E6F9E"/>
          </a:solidFill>
          <a:ln w="12700">
            <a:solidFill>
              <a:srgbClr val="2E6F9E"/>
            </a:solidFill>
            <a:prstDash val="solid"/>
          </a:ln>
        </p:spPr>
      </p:sp>
      <p:sp>
        <p:nvSpPr>
          <p:cNvPr id="23" name="Text 21"/>
          <p:cNvSpPr/>
          <p:nvPr/>
        </p:nvSpPr>
        <p:spPr>
          <a:xfrm>
            <a:off x="868680" y="4672584"/>
            <a:ext cx="320040" cy="109728"/>
          </a:xfrm>
          <a:prstGeom prst="rect">
            <a:avLst/>
          </a:prstGeom>
          <a:noFill/>
          <a:ln/>
        </p:spPr>
        <p:txBody>
          <a:bodyPr wrap="square" lIns="0" tIns="0" rIns="0" bIns="0" rtlCol="0" anchor="ctr"/>
          <a:lstStyle/>
          <a:p>
            <a:pPr algn="ctr" indent="0" marL="0">
              <a:buNone/>
            </a:pPr>
            <a:r>
              <a:rPr lang="en-US" sz="820" b="1" dirty="0">
                <a:solidFill>
                  <a:srgbClr val="FFFFFF"/>
                </a:solidFill>
              </a:rPr>
              <a:t>5</a:t>
            </a:r>
            <a:endParaRPr lang="en-US" sz="820" dirty="0"/>
          </a:p>
        </p:txBody>
      </p:sp>
      <p:sp>
        <p:nvSpPr>
          <p:cNvPr id="24" name="Text 22"/>
          <p:cNvSpPr/>
          <p:nvPr/>
        </p:nvSpPr>
        <p:spPr>
          <a:xfrm>
            <a:off x="1417320" y="4599432"/>
            <a:ext cx="2103120" cy="201168"/>
          </a:xfrm>
          <a:prstGeom prst="rect">
            <a:avLst/>
          </a:prstGeom>
          <a:noFill/>
          <a:ln/>
        </p:spPr>
        <p:txBody>
          <a:bodyPr wrap="square" lIns="0" tIns="0" rIns="0" bIns="0" rtlCol="0" anchor="ctr"/>
          <a:lstStyle/>
          <a:p>
            <a:pPr indent="0" marL="0">
              <a:buNone/>
            </a:pPr>
            <a:r>
              <a:rPr lang="en-US" sz="1250" b="1" dirty="0">
                <a:solidFill>
                  <a:srgbClr val="1F2933"/>
                </a:solidFill>
              </a:rPr>
              <a:t>Outputs</a:t>
            </a:r>
            <a:endParaRPr lang="en-US" sz="1250" dirty="0"/>
          </a:p>
        </p:txBody>
      </p:sp>
      <p:sp>
        <p:nvSpPr>
          <p:cNvPr id="25" name="Text 23"/>
          <p:cNvSpPr/>
          <p:nvPr/>
        </p:nvSpPr>
        <p:spPr>
          <a:xfrm>
            <a:off x="3703320" y="4599432"/>
            <a:ext cx="7132320" cy="201168"/>
          </a:xfrm>
          <a:prstGeom prst="rect">
            <a:avLst/>
          </a:prstGeom>
          <a:noFill/>
          <a:ln/>
        </p:spPr>
        <p:txBody>
          <a:bodyPr wrap="square" lIns="0" tIns="0" rIns="0" bIns="0" rtlCol="0" anchor="ctr">
            <a:normAutofit/>
          </a:bodyPr>
          <a:lstStyle/>
          <a:p>
            <a:pPr indent="0" marL="0">
              <a:buNone/>
            </a:pPr>
            <a:r>
              <a:rPr lang="en-US" sz="1150" dirty="0">
                <a:solidFill>
                  <a:srgbClr val="64748B"/>
                </a:solidFill>
              </a:rPr>
              <a:t>charts + JSON/CSV + Unreal handoff</a:t>
            </a:r>
            <a:endParaRPr lang="en-US" sz="1150" dirty="0"/>
          </a:p>
        </p:txBody>
      </p:sp>
      <p:sp>
        <p:nvSpPr>
          <p:cNvPr id="26" name="Text 24"/>
          <p:cNvSpPr/>
          <p:nvPr/>
        </p:nvSpPr>
        <p:spPr>
          <a:xfrm>
            <a:off x="960120" y="5532120"/>
            <a:ext cx="10149840" cy="256032"/>
          </a:xfrm>
          <a:prstGeom prst="rect">
            <a:avLst/>
          </a:prstGeom>
          <a:noFill/>
          <a:ln/>
        </p:spPr>
        <p:txBody>
          <a:bodyPr wrap="square" lIns="0" tIns="0" rIns="0" bIns="0" rtlCol="0" anchor="ctr">
            <a:normAutofit/>
          </a:bodyPr>
          <a:lstStyle/>
          <a:p>
            <a:pPr indent="0" marL="0">
              <a:buNone/>
            </a:pPr>
            <a:r>
              <a:rPr lang="en-US" sz="1150" b="1" dirty="0">
                <a:solidFill>
                  <a:srgbClr val="2E6F9E"/>
                </a:solidFill>
              </a:rPr>
              <a:t>GitHub: https://github.com/VrishinDutt/OS_Lean_Visual_Inspection_Digital_Twin</a:t>
            </a:r>
            <a:endParaRPr lang="en-US" sz="1150" dirty="0"/>
          </a:p>
        </p:txBody>
      </p:sp>
      <p:sp>
        <p:nvSpPr>
          <p:cNvPr id="27" name="Shape 25"/>
          <p:cNvSpPr/>
          <p:nvPr/>
        </p:nvSpPr>
        <p:spPr>
          <a:xfrm>
            <a:off x="548640" y="6446520"/>
            <a:ext cx="11064240" cy="0"/>
          </a:xfrm>
          <a:prstGeom prst="line">
            <a:avLst/>
          </a:prstGeom>
          <a:noFill/>
          <a:ln w="10160">
            <a:solidFill>
              <a:srgbClr val="D5DDE5"/>
            </a:solidFill>
            <a:prstDash val="solid"/>
          </a:ln>
        </p:spPr>
      </p:sp>
      <p:sp>
        <p:nvSpPr>
          <p:cNvPr id="28" name="Text 26"/>
          <p:cNvSpPr/>
          <p:nvPr/>
        </p:nvSpPr>
        <p:spPr>
          <a:xfrm>
            <a:off x="548640" y="6547104"/>
            <a:ext cx="5029200" cy="164592"/>
          </a:xfrm>
          <a:prstGeom prst="rect">
            <a:avLst/>
          </a:prstGeom>
          <a:noFill/>
          <a:ln/>
        </p:spPr>
        <p:txBody>
          <a:bodyPr wrap="square" lIns="0" tIns="0" rIns="0" bIns="0" rtlCol="0" anchor="ctr"/>
          <a:lstStyle/>
          <a:p>
            <a:pPr indent="0" marL="0">
              <a:buNone/>
            </a:pPr>
            <a:r>
              <a:rPr lang="en-US" sz="750" dirty="0">
                <a:solidFill>
                  <a:srgbClr val="64748B"/>
                </a:solidFill>
              </a:rPr>
              <a:t>OS Reliability in AI-Assisted Lean Visual Inspection</a:t>
            </a:r>
            <a:endParaRPr lang="en-US" sz="750" dirty="0"/>
          </a:p>
        </p:txBody>
      </p:sp>
      <p:sp>
        <p:nvSpPr>
          <p:cNvPr id="29" name="Text 27"/>
          <p:cNvSpPr/>
          <p:nvPr/>
        </p:nvSpPr>
        <p:spPr>
          <a:xfrm>
            <a:off x="10789920" y="6547104"/>
            <a:ext cx="822960" cy="164592"/>
          </a:xfrm>
          <a:prstGeom prst="rect">
            <a:avLst/>
          </a:prstGeom>
          <a:noFill/>
          <a:ln/>
        </p:spPr>
        <p:txBody>
          <a:bodyPr wrap="square" lIns="0" tIns="0" rIns="0" bIns="0" rtlCol="0" anchor="ctr"/>
          <a:lstStyle/>
          <a:p>
            <a:pPr algn="r" indent="0" marL="0">
              <a:buNone/>
            </a:pPr>
            <a:r>
              <a:rPr lang="en-US" sz="750" dirty="0">
                <a:solidFill>
                  <a:srgbClr val="64748B"/>
                </a:solidFill>
              </a:rPr>
              <a:t>Slide 12</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548640" y="502920"/>
            <a:ext cx="11064240" cy="0"/>
          </a:xfrm>
          <a:prstGeom prst="line">
            <a:avLst/>
          </a:prstGeom>
          <a:noFill/>
          <a:ln w="12700">
            <a:solidFill>
              <a:srgbClr val="D5DDE5"/>
            </a:solidFill>
            <a:prstDash val="solid"/>
          </a:ln>
        </p:spPr>
      </p:sp>
      <p:sp>
        <p:nvSpPr>
          <p:cNvPr id="3" name="Text 1"/>
          <p:cNvSpPr/>
          <p:nvPr/>
        </p:nvSpPr>
        <p:spPr>
          <a:xfrm>
            <a:off x="685800" y="685800"/>
            <a:ext cx="4389120" cy="201168"/>
          </a:xfrm>
          <a:prstGeom prst="rect">
            <a:avLst/>
          </a:prstGeom>
          <a:noFill/>
          <a:ln/>
        </p:spPr>
        <p:txBody>
          <a:bodyPr wrap="square" lIns="0" tIns="0" rIns="0" bIns="0" rtlCol="0" anchor="ctr"/>
          <a:lstStyle/>
          <a:p>
            <a:pPr indent="0" marL="0">
              <a:buNone/>
            </a:pPr>
            <a:r>
              <a:rPr lang="en-US" sz="850" b="1" dirty="0">
                <a:solidFill>
                  <a:srgbClr val="64748B"/>
                </a:solidFill>
              </a:rPr>
              <a:t>FUTURE SCOPE</a:t>
            </a:r>
            <a:endParaRPr lang="en-US" sz="850" dirty="0"/>
          </a:p>
        </p:txBody>
      </p:sp>
      <p:sp>
        <p:nvSpPr>
          <p:cNvPr id="4" name="Text 2"/>
          <p:cNvSpPr/>
          <p:nvPr/>
        </p:nvSpPr>
        <p:spPr>
          <a:xfrm>
            <a:off x="685800" y="960120"/>
            <a:ext cx="10241280" cy="411480"/>
          </a:xfrm>
          <a:prstGeom prst="rect">
            <a:avLst/>
          </a:prstGeom>
          <a:noFill/>
          <a:ln/>
        </p:spPr>
        <p:txBody>
          <a:bodyPr wrap="square" lIns="0" tIns="0" rIns="0" bIns="0" rtlCol="0" anchor="ctr">
            <a:normAutofit/>
          </a:bodyP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Where this can go next</a:t>
            </a:r>
            <a:endParaRPr lang="en-US" sz="2500" dirty="0"/>
          </a:p>
        </p:txBody>
      </p:sp>
      <p:sp>
        <p:nvSpPr>
          <p:cNvPr id="5" name="Text 3"/>
          <p:cNvSpPr/>
          <p:nvPr/>
        </p:nvSpPr>
        <p:spPr>
          <a:xfrm>
            <a:off x="704088" y="1490472"/>
            <a:ext cx="9875520" cy="292608"/>
          </a:xfrm>
          <a:prstGeom prst="rect">
            <a:avLst/>
          </a:prstGeom>
          <a:noFill/>
          <a:ln/>
        </p:spPr>
        <p:txBody>
          <a:bodyPr wrap="square" lIns="0" tIns="0" rIns="0" bIns="0" rtlCol="0" anchor="ctr">
            <a:normAutofit/>
          </a:bodyPr>
          <a:lstStyle/>
          <a:p>
            <a:pPr indent="0" marL="0">
              <a:buNone/>
            </a:pPr>
            <a:r>
              <a:rPr lang="en-US" sz="1150" dirty="0">
                <a:solidFill>
                  <a:srgbClr val="64748B"/>
                </a:solidFill>
              </a:rPr>
              <a:t>From OS AAT to a tangible industrial demonstrator.</a:t>
            </a:r>
            <a:endParaRPr lang="en-US" sz="1150" dirty="0"/>
          </a:p>
        </p:txBody>
      </p:sp>
      <p:sp>
        <p:nvSpPr>
          <p:cNvPr id="6" name="Shape 4"/>
          <p:cNvSpPr/>
          <p:nvPr/>
        </p:nvSpPr>
        <p:spPr>
          <a:xfrm>
            <a:off x="868680" y="2057400"/>
            <a:ext cx="411480" cy="0"/>
          </a:xfrm>
          <a:prstGeom prst="line">
            <a:avLst/>
          </a:prstGeom>
          <a:noFill/>
          <a:ln w="25400">
            <a:solidFill>
              <a:srgbClr val="2E6F9E"/>
            </a:solidFill>
            <a:prstDash val="solid"/>
          </a:ln>
        </p:spPr>
      </p:sp>
      <p:sp>
        <p:nvSpPr>
          <p:cNvPr id="7" name="Text 5"/>
          <p:cNvSpPr/>
          <p:nvPr/>
        </p:nvSpPr>
        <p:spPr>
          <a:xfrm>
            <a:off x="1417320" y="1965960"/>
            <a:ext cx="2743200" cy="201168"/>
          </a:xfrm>
          <a:prstGeom prst="rect">
            <a:avLst/>
          </a:prstGeom>
          <a:noFill/>
          <a:ln/>
        </p:spPr>
        <p:txBody>
          <a:bodyPr wrap="square" lIns="0" tIns="0" rIns="0" bIns="0" rtlCol="0" anchor="ctr"/>
          <a:lstStyle/>
          <a:p>
            <a:pPr indent="0" marL="0">
              <a:buNone/>
            </a:pPr>
            <a:r>
              <a:rPr lang="en-US" sz="1240" b="1" dirty="0">
                <a:solidFill>
                  <a:srgbClr val="1F2933"/>
                </a:solidFill>
              </a:rPr>
              <a:t>Computer vision</a:t>
            </a:r>
            <a:endParaRPr lang="en-US" sz="1240" dirty="0"/>
          </a:p>
        </p:txBody>
      </p:sp>
      <p:sp>
        <p:nvSpPr>
          <p:cNvPr id="8" name="Text 6"/>
          <p:cNvSpPr/>
          <p:nvPr/>
        </p:nvSpPr>
        <p:spPr>
          <a:xfrm>
            <a:off x="4343400" y="1965960"/>
            <a:ext cx="6629400" cy="201168"/>
          </a:xfrm>
          <a:prstGeom prst="rect">
            <a:avLst/>
          </a:prstGeom>
          <a:noFill/>
          <a:ln/>
        </p:spPr>
        <p:txBody>
          <a:bodyPr wrap="square" lIns="0" tIns="0" rIns="0" bIns="0" rtlCol="0" anchor="ctr">
            <a:normAutofit/>
          </a:bodyPr>
          <a:lstStyle/>
          <a:p>
            <a:pPr indent="0" marL="0">
              <a:buNone/>
            </a:pPr>
            <a:r>
              <a:rPr lang="en-US" sz="1120" dirty="0">
                <a:solidFill>
                  <a:srgbClr val="64748B"/>
                </a:solidFill>
              </a:rPr>
              <a:t>Replace synthetic defects with real image datasets or anomaly detection.</a:t>
            </a:r>
            <a:endParaRPr lang="en-US" sz="1120" dirty="0"/>
          </a:p>
        </p:txBody>
      </p:sp>
      <p:sp>
        <p:nvSpPr>
          <p:cNvPr id="9" name="Shape 7"/>
          <p:cNvSpPr/>
          <p:nvPr/>
        </p:nvSpPr>
        <p:spPr>
          <a:xfrm>
            <a:off x="868680" y="2679192"/>
            <a:ext cx="411480" cy="0"/>
          </a:xfrm>
          <a:prstGeom prst="line">
            <a:avLst/>
          </a:prstGeom>
          <a:noFill/>
          <a:ln w="25400">
            <a:solidFill>
              <a:srgbClr val="2E6F9E"/>
            </a:solidFill>
            <a:prstDash val="solid"/>
          </a:ln>
        </p:spPr>
      </p:sp>
      <p:sp>
        <p:nvSpPr>
          <p:cNvPr id="10" name="Text 8"/>
          <p:cNvSpPr/>
          <p:nvPr/>
        </p:nvSpPr>
        <p:spPr>
          <a:xfrm>
            <a:off x="1417320" y="2587752"/>
            <a:ext cx="2743200" cy="201168"/>
          </a:xfrm>
          <a:prstGeom prst="rect">
            <a:avLst/>
          </a:prstGeom>
          <a:noFill/>
          <a:ln/>
        </p:spPr>
        <p:txBody>
          <a:bodyPr wrap="square" lIns="0" tIns="0" rIns="0" bIns="0" rtlCol="0" anchor="ctr"/>
          <a:lstStyle/>
          <a:p>
            <a:pPr indent="0" marL="0">
              <a:buNone/>
            </a:pPr>
            <a:r>
              <a:rPr lang="en-US" sz="1240" b="1" dirty="0">
                <a:solidFill>
                  <a:srgbClr val="1F2933"/>
                </a:solidFill>
              </a:rPr>
              <a:t>Industrial comms</a:t>
            </a:r>
            <a:endParaRPr lang="en-US" sz="1240" dirty="0"/>
          </a:p>
        </p:txBody>
      </p:sp>
      <p:sp>
        <p:nvSpPr>
          <p:cNvPr id="11" name="Text 9"/>
          <p:cNvSpPr/>
          <p:nvPr/>
        </p:nvSpPr>
        <p:spPr>
          <a:xfrm>
            <a:off x="4343400" y="2587752"/>
            <a:ext cx="6629400" cy="201168"/>
          </a:xfrm>
          <a:prstGeom prst="rect">
            <a:avLst/>
          </a:prstGeom>
          <a:noFill/>
          <a:ln/>
        </p:spPr>
        <p:txBody>
          <a:bodyPr wrap="square" lIns="0" tIns="0" rIns="0" bIns="0" rtlCol="0" anchor="ctr">
            <a:normAutofit/>
          </a:bodyPr>
          <a:lstStyle/>
          <a:p>
            <a:pPr indent="0" marL="0">
              <a:buNone/>
            </a:pPr>
            <a:r>
              <a:rPr lang="en-US" sz="1120" dirty="0">
                <a:solidFill>
                  <a:srgbClr val="64748B"/>
                </a:solidFill>
              </a:rPr>
              <a:t>Add MQTT / OPC-UA for PLC/SCADA-style handoff.</a:t>
            </a:r>
            <a:endParaRPr lang="en-US" sz="1120" dirty="0"/>
          </a:p>
        </p:txBody>
      </p:sp>
      <p:sp>
        <p:nvSpPr>
          <p:cNvPr id="12" name="Shape 10"/>
          <p:cNvSpPr/>
          <p:nvPr/>
        </p:nvSpPr>
        <p:spPr>
          <a:xfrm>
            <a:off x="868680" y="3300984"/>
            <a:ext cx="411480" cy="0"/>
          </a:xfrm>
          <a:prstGeom prst="line">
            <a:avLst/>
          </a:prstGeom>
          <a:noFill/>
          <a:ln w="25400">
            <a:solidFill>
              <a:srgbClr val="2E6F9E"/>
            </a:solidFill>
            <a:prstDash val="solid"/>
          </a:ln>
        </p:spPr>
      </p:sp>
      <p:sp>
        <p:nvSpPr>
          <p:cNvPr id="13" name="Text 11"/>
          <p:cNvSpPr/>
          <p:nvPr/>
        </p:nvSpPr>
        <p:spPr>
          <a:xfrm>
            <a:off x="1417320" y="3209544"/>
            <a:ext cx="2743200" cy="201168"/>
          </a:xfrm>
          <a:prstGeom prst="rect">
            <a:avLst/>
          </a:prstGeom>
          <a:noFill/>
          <a:ln/>
        </p:spPr>
        <p:txBody>
          <a:bodyPr wrap="square" lIns="0" tIns="0" rIns="0" bIns="0" rtlCol="0" anchor="ctr"/>
          <a:lstStyle/>
          <a:p>
            <a:pPr indent="0" marL="0">
              <a:buNone/>
            </a:pPr>
            <a:r>
              <a:rPr lang="en-US" sz="1240" b="1" dirty="0">
                <a:solidFill>
                  <a:srgbClr val="1F2933"/>
                </a:solidFill>
              </a:rPr>
              <a:t>Unreal digital twin</a:t>
            </a:r>
            <a:endParaRPr lang="en-US" sz="1240" dirty="0"/>
          </a:p>
        </p:txBody>
      </p:sp>
      <p:sp>
        <p:nvSpPr>
          <p:cNvPr id="14" name="Text 12"/>
          <p:cNvSpPr/>
          <p:nvPr/>
        </p:nvSpPr>
        <p:spPr>
          <a:xfrm>
            <a:off x="4343400" y="3209544"/>
            <a:ext cx="6629400" cy="201168"/>
          </a:xfrm>
          <a:prstGeom prst="rect">
            <a:avLst/>
          </a:prstGeom>
          <a:noFill/>
          <a:ln/>
        </p:spPr>
        <p:txBody>
          <a:bodyPr wrap="square" lIns="0" tIns="0" rIns="0" bIns="0" rtlCol="0" anchor="ctr">
            <a:normAutofit/>
          </a:bodyPr>
          <a:lstStyle/>
          <a:p>
            <a:pPr indent="0" marL="0">
              <a:buNone/>
            </a:pPr>
            <a:r>
              <a:rPr lang="en-US" sz="1120" dirty="0">
                <a:solidFill>
                  <a:srgbClr val="64748B"/>
                </a:solidFill>
              </a:rPr>
              <a:t>Animate conveyor, camera, actuator, race warnings, and scheduling modes.</a:t>
            </a:r>
            <a:endParaRPr lang="en-US" sz="1120" dirty="0"/>
          </a:p>
        </p:txBody>
      </p:sp>
      <p:sp>
        <p:nvSpPr>
          <p:cNvPr id="15" name="Shape 13"/>
          <p:cNvSpPr/>
          <p:nvPr/>
        </p:nvSpPr>
        <p:spPr>
          <a:xfrm>
            <a:off x="868680" y="3922776"/>
            <a:ext cx="411480" cy="0"/>
          </a:xfrm>
          <a:prstGeom prst="line">
            <a:avLst/>
          </a:prstGeom>
          <a:noFill/>
          <a:ln w="25400">
            <a:solidFill>
              <a:srgbClr val="2E6F9E"/>
            </a:solidFill>
            <a:prstDash val="solid"/>
          </a:ln>
        </p:spPr>
      </p:sp>
      <p:sp>
        <p:nvSpPr>
          <p:cNvPr id="16" name="Text 14"/>
          <p:cNvSpPr/>
          <p:nvPr/>
        </p:nvSpPr>
        <p:spPr>
          <a:xfrm>
            <a:off x="1417320" y="3831336"/>
            <a:ext cx="2743200" cy="201168"/>
          </a:xfrm>
          <a:prstGeom prst="rect">
            <a:avLst/>
          </a:prstGeom>
          <a:noFill/>
          <a:ln/>
        </p:spPr>
        <p:txBody>
          <a:bodyPr wrap="square" lIns="0" tIns="0" rIns="0" bIns="0" rtlCol="0" anchor="ctr"/>
          <a:lstStyle/>
          <a:p>
            <a:pPr indent="0" marL="0">
              <a:buNone/>
            </a:pPr>
            <a:r>
              <a:rPr lang="en-US" sz="1240" b="1" dirty="0">
                <a:solidFill>
                  <a:srgbClr val="1F2933"/>
                </a:solidFill>
              </a:rPr>
              <a:t>Advanced OS analysis</a:t>
            </a:r>
            <a:endParaRPr lang="en-US" sz="1240" dirty="0"/>
          </a:p>
        </p:txBody>
      </p:sp>
      <p:sp>
        <p:nvSpPr>
          <p:cNvPr id="17" name="Text 15"/>
          <p:cNvSpPr/>
          <p:nvPr/>
        </p:nvSpPr>
        <p:spPr>
          <a:xfrm>
            <a:off x="4343400" y="3831336"/>
            <a:ext cx="6629400" cy="201168"/>
          </a:xfrm>
          <a:prstGeom prst="rect">
            <a:avLst/>
          </a:prstGeom>
          <a:noFill/>
          <a:ln/>
        </p:spPr>
        <p:txBody>
          <a:bodyPr wrap="square" lIns="0" tIns="0" rIns="0" bIns="0" rtlCol="0" anchor="ctr">
            <a:normAutofit/>
          </a:bodyPr>
          <a:lstStyle/>
          <a:p>
            <a:pPr indent="0" marL="0">
              <a:buNone/>
            </a:pPr>
            <a:r>
              <a:rPr lang="en-US" sz="1120" dirty="0">
                <a:solidFill>
                  <a:srgbClr val="64748B"/>
                </a:solidFill>
              </a:rPr>
              <a:t>Add priority inversion, starvation, multicore scheduling, fault recovery.</a:t>
            </a:r>
            <a:endParaRPr lang="en-US" sz="1120" dirty="0"/>
          </a:p>
        </p:txBody>
      </p:sp>
      <p:sp>
        <p:nvSpPr>
          <p:cNvPr id="18" name="Shape 16"/>
          <p:cNvSpPr/>
          <p:nvPr/>
        </p:nvSpPr>
        <p:spPr>
          <a:xfrm>
            <a:off x="868680" y="4544568"/>
            <a:ext cx="411480" cy="0"/>
          </a:xfrm>
          <a:prstGeom prst="line">
            <a:avLst/>
          </a:prstGeom>
          <a:noFill/>
          <a:ln w="25400">
            <a:solidFill>
              <a:srgbClr val="2E6F9E"/>
            </a:solidFill>
            <a:prstDash val="solid"/>
          </a:ln>
        </p:spPr>
      </p:sp>
      <p:sp>
        <p:nvSpPr>
          <p:cNvPr id="19" name="Text 17"/>
          <p:cNvSpPr/>
          <p:nvPr/>
        </p:nvSpPr>
        <p:spPr>
          <a:xfrm>
            <a:off x="1417320" y="4453128"/>
            <a:ext cx="2743200" cy="201168"/>
          </a:xfrm>
          <a:prstGeom prst="rect">
            <a:avLst/>
          </a:prstGeom>
          <a:noFill/>
          <a:ln/>
        </p:spPr>
        <p:txBody>
          <a:bodyPr wrap="square" lIns="0" tIns="0" rIns="0" bIns="0" rtlCol="0" anchor="ctr"/>
          <a:lstStyle/>
          <a:p>
            <a:pPr indent="0" marL="0">
              <a:buNone/>
            </a:pPr>
            <a:r>
              <a:rPr lang="en-US" sz="1240" b="1" dirty="0">
                <a:solidFill>
                  <a:srgbClr val="1F2933"/>
                </a:solidFill>
              </a:rPr>
              <a:t>VIXIO-style workflow</a:t>
            </a:r>
            <a:endParaRPr lang="en-US" sz="1240" dirty="0"/>
          </a:p>
        </p:txBody>
      </p:sp>
      <p:sp>
        <p:nvSpPr>
          <p:cNvPr id="20" name="Text 18"/>
          <p:cNvSpPr/>
          <p:nvPr/>
        </p:nvSpPr>
        <p:spPr>
          <a:xfrm>
            <a:off x="4343400" y="4453128"/>
            <a:ext cx="6629400" cy="201168"/>
          </a:xfrm>
          <a:prstGeom prst="rect">
            <a:avLst/>
          </a:prstGeom>
          <a:noFill/>
          <a:ln/>
        </p:spPr>
        <p:txBody>
          <a:bodyPr wrap="square" lIns="0" tIns="0" rIns="0" bIns="0" rtlCol="0" anchor="ctr">
            <a:normAutofit/>
          </a:bodyPr>
          <a:lstStyle/>
          <a:p>
            <a:pPr indent="0" marL="0">
              <a:buNone/>
            </a:pPr>
            <a:r>
              <a:rPr lang="en-US" sz="1120" dirty="0">
                <a:solidFill>
                  <a:srgbClr val="64748B"/>
                </a:solidFill>
              </a:rPr>
              <a:t>Treat AI inspection as one node while OS layer ensures identity and timing integrity.</a:t>
            </a:r>
            <a:endParaRPr lang="en-US" sz="1120" dirty="0"/>
          </a:p>
        </p:txBody>
      </p:sp>
      <p:sp>
        <p:nvSpPr>
          <p:cNvPr id="21" name="Shape 19"/>
          <p:cNvSpPr/>
          <p:nvPr/>
        </p:nvSpPr>
        <p:spPr>
          <a:xfrm>
            <a:off x="914400" y="5532120"/>
            <a:ext cx="10149840" cy="457200"/>
          </a:xfrm>
          <a:prstGeom prst="roundRect">
            <a:avLst>
              <a:gd name="adj" fmla="val 14000"/>
            </a:avLst>
          </a:prstGeom>
          <a:solidFill>
            <a:srgbClr val="F4F8FB"/>
          </a:solidFill>
          <a:ln w="12700">
            <a:solidFill>
              <a:srgbClr val="D5DDE5"/>
            </a:solidFill>
            <a:prstDash val="solid"/>
          </a:ln>
        </p:spPr>
      </p:sp>
      <p:sp>
        <p:nvSpPr>
          <p:cNvPr id="22" name="Text 20"/>
          <p:cNvSpPr/>
          <p:nvPr/>
        </p:nvSpPr>
        <p:spPr>
          <a:xfrm>
            <a:off x="978408" y="5596128"/>
            <a:ext cx="10021824" cy="329184"/>
          </a:xfrm>
          <a:prstGeom prst="rect">
            <a:avLst/>
          </a:prstGeom>
          <a:noFill/>
          <a:ln/>
        </p:spPr>
        <p:txBody>
          <a:bodyPr wrap="square" lIns="0" tIns="0" rIns="0" bIns="0" rtlCol="0" anchor="ctr">
            <a:normAutofit/>
          </a:bodyPr>
          <a:lstStyle/>
          <a:p>
            <a:pPr algn="ctr" indent="0" marL="0">
              <a:buNone/>
            </a:pPr>
            <a:r>
              <a:rPr lang="en-US" sz="1270" b="1" dirty="0">
                <a:solidFill>
                  <a:srgbClr val="1F2933"/>
                </a:solidFill>
              </a:rPr>
              <a:t>Forward thesis: lean manufacturing does not only need better inspection models; it needs reliable coordination beneath them.</a:t>
            </a:r>
            <a:endParaRPr lang="en-US" sz="1270" dirty="0"/>
          </a:p>
        </p:txBody>
      </p:sp>
      <p:sp>
        <p:nvSpPr>
          <p:cNvPr id="23" name="Shape 21"/>
          <p:cNvSpPr/>
          <p:nvPr/>
        </p:nvSpPr>
        <p:spPr>
          <a:xfrm>
            <a:off x="548640" y="6446520"/>
            <a:ext cx="11064240" cy="0"/>
          </a:xfrm>
          <a:prstGeom prst="line">
            <a:avLst/>
          </a:prstGeom>
          <a:noFill/>
          <a:ln w="10160">
            <a:solidFill>
              <a:srgbClr val="D5DDE5"/>
            </a:solidFill>
            <a:prstDash val="solid"/>
          </a:ln>
        </p:spPr>
      </p:sp>
      <p:sp>
        <p:nvSpPr>
          <p:cNvPr id="24" name="Text 22"/>
          <p:cNvSpPr/>
          <p:nvPr/>
        </p:nvSpPr>
        <p:spPr>
          <a:xfrm>
            <a:off x="548640" y="6547104"/>
            <a:ext cx="5029200" cy="164592"/>
          </a:xfrm>
          <a:prstGeom prst="rect">
            <a:avLst/>
          </a:prstGeom>
          <a:noFill/>
          <a:ln/>
        </p:spPr>
        <p:txBody>
          <a:bodyPr wrap="square" lIns="0" tIns="0" rIns="0" bIns="0" rtlCol="0" anchor="ctr"/>
          <a:lstStyle/>
          <a:p>
            <a:pPr indent="0" marL="0">
              <a:buNone/>
            </a:pPr>
            <a:r>
              <a:rPr lang="en-US" sz="750" dirty="0">
                <a:solidFill>
                  <a:srgbClr val="64748B"/>
                </a:solidFill>
              </a:rPr>
              <a:t>OS Reliability in AI-Assisted Lean Visual Inspection</a:t>
            </a:r>
            <a:endParaRPr lang="en-US" sz="750" dirty="0"/>
          </a:p>
        </p:txBody>
      </p:sp>
      <p:sp>
        <p:nvSpPr>
          <p:cNvPr id="25" name="Text 23"/>
          <p:cNvSpPr/>
          <p:nvPr/>
        </p:nvSpPr>
        <p:spPr>
          <a:xfrm>
            <a:off x="10789920" y="6547104"/>
            <a:ext cx="822960" cy="164592"/>
          </a:xfrm>
          <a:prstGeom prst="rect">
            <a:avLst/>
          </a:prstGeom>
          <a:noFill/>
          <a:ln/>
        </p:spPr>
        <p:txBody>
          <a:bodyPr wrap="square" lIns="0" tIns="0" rIns="0" bIns="0" rtlCol="0" anchor="ctr"/>
          <a:lstStyle/>
          <a:p>
            <a:pPr algn="r" indent="0" marL="0">
              <a:buNone/>
            </a:pPr>
            <a:r>
              <a:rPr lang="en-US" sz="750" dirty="0">
                <a:solidFill>
                  <a:srgbClr val="64748B"/>
                </a:solidFill>
              </a:rPr>
              <a:t>Slide 13</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8FB"/>
        </a:solidFill>
      </p:bgPr>
    </p:bg>
    <p:spTree>
      <p:nvGrpSpPr>
        <p:cNvPr id="1" name=""/>
        <p:cNvGrpSpPr/>
        <p:nvPr/>
      </p:nvGrpSpPr>
      <p:grpSpPr>
        <a:xfrm>
          <a:off x="0" y="0"/>
          <a:ext cx="0" cy="0"/>
          <a:chOff x="0" y="0"/>
          <a:chExt cx="0" cy="0"/>
        </a:xfrm>
      </p:grpSpPr>
      <p:sp>
        <p:nvSpPr>
          <p:cNvPr id="2" name="Text 0"/>
          <p:cNvSpPr/>
          <p:nvPr/>
        </p:nvSpPr>
        <p:spPr>
          <a:xfrm>
            <a:off x="685800" y="685800"/>
            <a:ext cx="2286000" cy="201168"/>
          </a:xfrm>
          <a:prstGeom prst="rect">
            <a:avLst/>
          </a:prstGeom>
          <a:noFill/>
          <a:ln/>
        </p:spPr>
        <p:txBody>
          <a:bodyPr wrap="square" lIns="0" tIns="0" rIns="0" bIns="0" rtlCol="0" anchor="ctr"/>
          <a:lstStyle/>
          <a:p>
            <a:pPr indent="0" marL="0">
              <a:buNone/>
            </a:pPr>
            <a:r>
              <a:rPr lang="en-US" sz="950" b="1" dirty="0">
                <a:solidFill>
                  <a:srgbClr val="64748B"/>
                </a:solidFill>
              </a:rPr>
              <a:t>Final takeaway</a:t>
            </a:r>
            <a:endParaRPr lang="en-US" sz="950" dirty="0"/>
          </a:p>
        </p:txBody>
      </p:sp>
      <p:sp>
        <p:nvSpPr>
          <p:cNvPr id="3" name="Text 1"/>
          <p:cNvSpPr/>
          <p:nvPr/>
        </p:nvSpPr>
        <p:spPr>
          <a:xfrm>
            <a:off x="685800" y="1417320"/>
            <a:ext cx="6400800" cy="1097280"/>
          </a:xfrm>
          <a:prstGeom prst="rect">
            <a:avLst/>
          </a:prstGeom>
          <a:noFill/>
          <a:ln/>
        </p:spPr>
        <p:txBody>
          <a:bodyPr wrap="square" lIns="0" tIns="0" rIns="0" bIns="0" rtlCol="0" anchor="ctr">
            <a:normAutofit/>
          </a:bodyPr>
          <a:lstStyle/>
          <a:p>
            <a:pPr indent="0" marL="0">
              <a:buNone/>
            </a:pPr>
            <a:r>
              <a:rPr lang="en-US" sz="3100" b="1" dirty="0">
                <a:solidFill>
                  <a:srgbClr val="1F2933"/>
                </a:solidFill>
                <a:latin typeface="Aptos Display" pitchFamily="34" charset="0"/>
                <a:ea typeface="Aptos Display" pitchFamily="34" charset="-122"/>
                <a:cs typeface="Aptos Display" pitchFamily="34" charset="-120"/>
              </a:rPr>
              <a:t>Reliable automation needs</a:t>
            </a:r>
            <a:endParaRPr lang="en-US" sz="3100" dirty="0"/>
          </a:p>
          <a:p>
            <a:pPr indent="0" marL="0">
              <a:buNone/>
            </a:pPr>
            <a:r>
              <a:rPr lang="en-US" sz="3100" b="1" dirty="0">
                <a:solidFill>
                  <a:srgbClr val="1F2933"/>
                </a:solidFill>
                <a:latin typeface="Aptos Display" pitchFamily="34" charset="0"/>
                <a:ea typeface="Aptos Display" pitchFamily="34" charset="-122"/>
                <a:cs typeface="Aptos Display" pitchFamily="34" charset="-120"/>
              </a:rPr>
              <a:t>correct logic + correct coordination.</a:t>
            </a:r>
            <a:endParaRPr lang="en-US" sz="3100" dirty="0"/>
          </a:p>
        </p:txBody>
      </p:sp>
      <p:sp>
        <p:nvSpPr>
          <p:cNvPr id="4" name="Shape 2"/>
          <p:cNvSpPr/>
          <p:nvPr/>
        </p:nvSpPr>
        <p:spPr>
          <a:xfrm>
            <a:off x="822960" y="3246120"/>
            <a:ext cx="3108960" cy="640080"/>
          </a:xfrm>
          <a:prstGeom prst="roundRect">
            <a:avLst>
              <a:gd name="adj" fmla="val 10000"/>
            </a:avLst>
          </a:prstGeom>
          <a:solidFill>
            <a:srgbClr val="FFFFFF"/>
          </a:solidFill>
          <a:ln w="12700">
            <a:solidFill>
              <a:srgbClr val="D5DDE5"/>
            </a:solidFill>
            <a:prstDash val="solid"/>
          </a:ln>
        </p:spPr>
      </p:sp>
      <p:sp>
        <p:nvSpPr>
          <p:cNvPr id="5" name="Text 3"/>
          <p:cNvSpPr/>
          <p:nvPr/>
        </p:nvSpPr>
        <p:spPr>
          <a:xfrm>
            <a:off x="886968" y="3310128"/>
            <a:ext cx="2980944" cy="512064"/>
          </a:xfrm>
          <a:prstGeom prst="rect">
            <a:avLst/>
          </a:prstGeom>
          <a:noFill/>
          <a:ln/>
        </p:spPr>
        <p:txBody>
          <a:bodyPr wrap="square" lIns="0" tIns="0" rIns="0" bIns="0" rtlCol="0" anchor="ctr">
            <a:normAutofit/>
          </a:bodyPr>
          <a:lstStyle/>
          <a:p>
            <a:pPr algn="ctr" indent="0" marL="0">
              <a:buNone/>
            </a:pPr>
            <a:r>
              <a:rPr lang="en-US" sz="1300" b="1" dirty="0">
                <a:solidFill>
                  <a:srgbClr val="1F2933"/>
                </a:solidFill>
              </a:rPr>
              <a:t>Synchronization protects shared state.</a:t>
            </a:r>
            <a:endParaRPr lang="en-US" sz="1300" dirty="0"/>
          </a:p>
        </p:txBody>
      </p:sp>
      <p:sp>
        <p:nvSpPr>
          <p:cNvPr id="6" name="Shape 4"/>
          <p:cNvSpPr/>
          <p:nvPr/>
        </p:nvSpPr>
        <p:spPr>
          <a:xfrm>
            <a:off x="4526280" y="3246120"/>
            <a:ext cx="3566160" cy="640080"/>
          </a:xfrm>
          <a:prstGeom prst="roundRect">
            <a:avLst>
              <a:gd name="adj" fmla="val 10000"/>
            </a:avLst>
          </a:prstGeom>
          <a:solidFill>
            <a:srgbClr val="FFFFFF"/>
          </a:solidFill>
          <a:ln w="12700">
            <a:solidFill>
              <a:srgbClr val="D5DDE5"/>
            </a:solidFill>
            <a:prstDash val="solid"/>
          </a:ln>
        </p:spPr>
      </p:sp>
      <p:sp>
        <p:nvSpPr>
          <p:cNvPr id="7" name="Text 5"/>
          <p:cNvSpPr/>
          <p:nvPr/>
        </p:nvSpPr>
        <p:spPr>
          <a:xfrm>
            <a:off x="4590288" y="3310128"/>
            <a:ext cx="3438144" cy="512064"/>
          </a:xfrm>
          <a:prstGeom prst="rect">
            <a:avLst/>
          </a:prstGeom>
          <a:noFill/>
          <a:ln/>
        </p:spPr>
        <p:txBody>
          <a:bodyPr wrap="square" lIns="0" tIns="0" rIns="0" bIns="0" rtlCol="0" anchor="ctr">
            <a:normAutofit/>
          </a:bodyPr>
          <a:lstStyle/>
          <a:p>
            <a:pPr algn="ctr" indent="0" marL="0">
              <a:buNone/>
            </a:pPr>
            <a:r>
              <a:rPr lang="en-US" sz="1300" b="1" dirty="0">
                <a:solidFill>
                  <a:srgbClr val="1F2933"/>
                </a:solidFill>
              </a:rPr>
              <a:t>Scheduling protects time-critical execution.</a:t>
            </a:r>
            <a:endParaRPr lang="en-US" sz="1300" dirty="0"/>
          </a:p>
        </p:txBody>
      </p:sp>
      <p:sp>
        <p:nvSpPr>
          <p:cNvPr id="8" name="Shape 6"/>
          <p:cNvSpPr/>
          <p:nvPr/>
        </p:nvSpPr>
        <p:spPr>
          <a:xfrm>
            <a:off x="8686800" y="3246120"/>
            <a:ext cx="2743200" cy="640080"/>
          </a:xfrm>
          <a:prstGeom prst="roundRect">
            <a:avLst>
              <a:gd name="adj" fmla="val 10000"/>
            </a:avLst>
          </a:prstGeom>
          <a:solidFill>
            <a:srgbClr val="FFFFFF"/>
          </a:solidFill>
          <a:ln w="12700">
            <a:solidFill>
              <a:srgbClr val="D5DDE5"/>
            </a:solidFill>
            <a:prstDash val="solid"/>
          </a:ln>
        </p:spPr>
      </p:sp>
      <p:sp>
        <p:nvSpPr>
          <p:cNvPr id="9" name="Text 7"/>
          <p:cNvSpPr/>
          <p:nvPr/>
        </p:nvSpPr>
        <p:spPr>
          <a:xfrm>
            <a:off x="8750808" y="3310128"/>
            <a:ext cx="2615184" cy="512064"/>
          </a:xfrm>
          <a:prstGeom prst="rect">
            <a:avLst/>
          </a:prstGeom>
          <a:noFill/>
          <a:ln/>
        </p:spPr>
        <p:txBody>
          <a:bodyPr wrap="square" lIns="0" tIns="0" rIns="0" bIns="0" rtlCol="0" anchor="ctr">
            <a:normAutofit/>
          </a:bodyPr>
          <a:lstStyle/>
          <a:p>
            <a:pPr algn="ctr" indent="0" marL="0">
              <a:buNone/>
            </a:pPr>
            <a:r>
              <a:rPr lang="en-US" sz="1300" b="1" dirty="0">
                <a:solidFill>
                  <a:srgbClr val="1F2933"/>
                </a:solidFill>
              </a:rPr>
              <a:t>Digital twins make OS failures visible.</a:t>
            </a:r>
            <a:endParaRPr lang="en-US" sz="1300" dirty="0"/>
          </a:p>
        </p:txBody>
      </p:sp>
      <p:sp>
        <p:nvSpPr>
          <p:cNvPr id="10" name="Text 8"/>
          <p:cNvSpPr/>
          <p:nvPr/>
        </p:nvSpPr>
        <p:spPr>
          <a:xfrm>
            <a:off x="914400" y="4892040"/>
            <a:ext cx="10241280" cy="384048"/>
          </a:xfrm>
          <a:prstGeom prst="rect">
            <a:avLst/>
          </a:prstGeom>
          <a:noFill/>
          <a:ln/>
        </p:spPr>
        <p:txBody>
          <a:bodyPr wrap="square" lIns="0" tIns="0" rIns="0" bIns="0" rtlCol="0" anchor="ctr">
            <a:normAutofit/>
          </a:bodyPr>
          <a:lstStyle/>
          <a:p>
            <a:pPr algn="ctr" indent="0" marL="0">
              <a:buNone/>
            </a:pPr>
            <a:r>
              <a:rPr lang="en-US" sz="1600" b="1" dirty="0">
                <a:solidFill>
                  <a:srgbClr val="2E6F9E"/>
                </a:solidFill>
              </a:rPr>
              <a:t>In a smart inspection cell, a race condition is not just a bug — it is a potential quality-control failure.</a:t>
            </a:r>
            <a:endParaRPr lang="en-US" sz="1600" dirty="0"/>
          </a:p>
        </p:txBody>
      </p:sp>
      <p:sp>
        <p:nvSpPr>
          <p:cNvPr id="11" name="Text 9"/>
          <p:cNvSpPr/>
          <p:nvPr/>
        </p:nvSpPr>
        <p:spPr>
          <a:xfrm>
            <a:off x="4251960" y="5897880"/>
            <a:ext cx="3657600" cy="201168"/>
          </a:xfrm>
          <a:prstGeom prst="rect">
            <a:avLst/>
          </a:prstGeom>
          <a:noFill/>
          <a:ln/>
        </p:spPr>
        <p:txBody>
          <a:bodyPr wrap="square" lIns="0" tIns="0" rIns="0" bIns="0" rtlCol="0" anchor="ctr"/>
          <a:lstStyle/>
          <a:p>
            <a:pPr algn="ctr" indent="0" marL="0">
              <a:buNone/>
            </a:pPr>
            <a:r>
              <a:rPr lang="en-US" sz="1050" dirty="0">
                <a:solidFill>
                  <a:srgbClr val="64748B"/>
                </a:solidFill>
              </a:rPr>
              <a:t>Yashwanth J · Vrishin Dutt CG</a:t>
            </a:r>
            <a:endParaRPr lang="en-US" sz="1050" dirty="0"/>
          </a:p>
        </p:txBody>
      </p:sp>
      <p:sp>
        <p:nvSpPr>
          <p:cNvPr id="12" name="Text 10"/>
          <p:cNvSpPr/>
          <p:nvPr/>
        </p:nvSpPr>
        <p:spPr>
          <a:xfrm>
            <a:off x="914400" y="6245352"/>
            <a:ext cx="10332720" cy="164592"/>
          </a:xfrm>
          <a:prstGeom prst="rect">
            <a:avLst/>
          </a:prstGeom>
          <a:noFill/>
          <a:ln/>
        </p:spPr>
        <p:txBody>
          <a:bodyPr wrap="square" lIns="0" tIns="0" rIns="0" bIns="0" rtlCol="0" anchor="ctr">
            <a:normAutofit/>
          </a:bodyPr>
          <a:lstStyle/>
          <a:p>
            <a:pPr algn="ctr" indent="0" marL="0">
              <a:buNone/>
            </a:pPr>
            <a:r>
              <a:rPr lang="en-US" sz="680" dirty="0">
                <a:solidFill>
                  <a:srgbClr val="64748B"/>
                </a:solidFill>
              </a:rPr>
              <a:t>References: Operating System Concepts; Modern Operating Systems; Mitsubishi Electric MELSOFT VIXIO official product page; Python and Unreal Engine documentation.</a:t>
            </a:r>
            <a:endParaRPr lang="en-US" sz="6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OS Reliability in AI-Assisted Lean Visual Inspection</dc:title>
  <dc:subject>Operating Systems AAT Project</dc:subject>
  <dc:creator>Vrishin Dutt CG</dc:creator>
  <cp:lastModifiedBy>Vrishin Dutt CG</cp:lastModifiedBy>
  <cp:revision>1</cp:revision>
  <dcterms:created xsi:type="dcterms:W3CDTF">2026-06-02T16:55:47Z</dcterms:created>
  <dcterms:modified xsi:type="dcterms:W3CDTF">2026-06-02T16:55:47Z</dcterms:modified>
</cp:coreProperties>
</file>